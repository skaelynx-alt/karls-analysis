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2" r:id="rId9"/>
    <p:sldId id="266" r:id="rId10"/>
    <p:sldId id="264" r:id="rId11"/>
    <p:sldId id="267"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8A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507"/>
  </p:normalViewPr>
  <p:slideViewPr>
    <p:cSldViewPr snapToGrid="0" snapToObjects="1">
      <p:cViewPr varScale="1">
        <p:scale>
          <a:sx n="137" d="100"/>
          <a:sy n="137" d="100"/>
        </p:scale>
        <p:origin x="1104" y="176"/>
      </p:cViewPr>
      <p:guideLst/>
    </p:cSldViewPr>
  </p:slideViewPr>
  <p:notesTextViewPr>
    <p:cViewPr>
      <p:scale>
        <a:sx n="1" d="1"/>
        <a:sy n="1" d="1"/>
      </p:scale>
      <p:origin x="0" y="-56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2413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a:t>
            </a:r>
            <a:r>
              <a:rPr lang="en-US" dirty="0" err="1"/>
              <a:t>summarises</a:t>
            </a:r>
            <a:r>
              <a:rPr lang="en-US" dirty="0"/>
              <a:t> the exploratory data analysis (EDA) conducted on the FITFR dataset ahead of formal modelling. </a:t>
            </a:r>
            <a:r>
              <a:rPr lang="en-US"/>
              <a:t>It covers the dataset structure, descriptive statistics, the main relationships between treatment and outcomes (AF and PR), the role of potential covariates (age, sex, and SNPs), and key implications for model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Dataset</a:t>
            </a:r>
            <a:r>
              <a:rPr lang="zh-CN" altLang="en-US" b="1" dirty="0"/>
              <a:t> </a:t>
            </a:r>
            <a:r>
              <a:rPr lang="en-US" altLang="zh-CN" b="1" dirty="0"/>
              <a:t>Overview</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dataset contains 100 participants across 58 variables. Treatment groups are reasonably balanced (A: 32, B: 29, C: 39), as are sex (51 female, 49 male) and the PR outcome (51 yes, 49 no). Age has 2 missing values which were originally coded as −99 (a sentinel value indicating missing data) and have been recoded to NA. Smoking status and rs123456 carry no information — all participants are non-smokers and all carry the same genotype at rs123456 — so both are excluded from all models.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1" i="1" dirty="0"/>
              <a:t>Notes: </a:t>
            </a:r>
            <a:r>
              <a:rPr lang="en-US" b="0" i="1" dirty="0"/>
              <a:t>"Zero-variance" means a variable has the same value for every participant — since all participants are non-smokers, smoking status cannot explain any difference between participants and is therefore useless as a predictor. "Monomorphic" means the same thing applied to a SNP — every participant carries the identical genotype at rs123456, so it carries no genetic information for this sample.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Descriptive</a:t>
            </a:r>
            <a:r>
              <a:rPr lang="zh-CN" altLang="en-US" b="1" dirty="0"/>
              <a:t> </a:t>
            </a:r>
            <a:r>
              <a:rPr lang="en-US" altLang="zh-CN" b="1" dirty="0"/>
              <a:t>Statistics</a:t>
            </a:r>
            <a:endParaRPr lang="en-US" b="1" dirty="0"/>
          </a:p>
          <a:p>
            <a:r>
              <a:rPr lang="en-US" dirty="0"/>
              <a:t>Table 1 compares the distribution of key variables across treatment groups. </a:t>
            </a:r>
            <a:r>
              <a:rPr lang="en-US" b="1" dirty="0"/>
              <a:t>ANOVA</a:t>
            </a:r>
            <a:r>
              <a:rPr lang="en-US" dirty="0"/>
              <a:t> was used for continuous variables (age, AF) and </a:t>
            </a:r>
            <a:r>
              <a:rPr lang="el-GR" b="1" dirty="0"/>
              <a:t>χ² </a:t>
            </a:r>
            <a:r>
              <a:rPr lang="en-US" b="1" dirty="0"/>
              <a:t>test </a:t>
            </a:r>
            <a:r>
              <a:rPr lang="en-US" dirty="0"/>
              <a:t>for categorical variables (sex, PR). </a:t>
            </a:r>
            <a:r>
              <a:rPr lang="en-US" i="1" dirty="0">
                <a:solidFill>
                  <a:schemeClr val="tx1">
                    <a:lumMod val="50000"/>
                    <a:lumOff val="50000"/>
                  </a:schemeClr>
                </a:solidFill>
              </a:rPr>
              <a:t>(</a:t>
            </a:r>
            <a:r>
              <a:rPr lang="en-AU" i="1" dirty="0">
                <a:solidFill>
                  <a:schemeClr val="tx1">
                    <a:lumMod val="50000"/>
                    <a:lumOff val="50000"/>
                  </a:schemeClr>
                </a:solidFill>
              </a:rPr>
              <a:t>Note that ANOVA and </a:t>
            </a:r>
            <a:r>
              <a:rPr lang="el-GR" i="1" dirty="0">
                <a:solidFill>
                  <a:schemeClr val="tx1">
                    <a:lumMod val="50000"/>
                    <a:lumOff val="50000"/>
                  </a:schemeClr>
                </a:solidFill>
              </a:rPr>
              <a:t>χ² </a:t>
            </a:r>
            <a:r>
              <a:rPr lang="en-AU" i="1" dirty="0">
                <a:solidFill>
                  <a:schemeClr val="tx1">
                    <a:lumMod val="50000"/>
                    <a:lumOff val="50000"/>
                  </a:schemeClr>
                </a:solidFill>
              </a:rPr>
              <a:t>are the default tests applied by the </a:t>
            </a:r>
            <a:r>
              <a:rPr lang="en-AU" sz="1200" i="1" kern="1200" dirty="0" err="1">
                <a:solidFill>
                  <a:schemeClr val="tx1">
                    <a:lumMod val="50000"/>
                    <a:lumOff val="50000"/>
                  </a:schemeClr>
                </a:solidFill>
                <a:latin typeface="+mn-lt"/>
                <a:ea typeface="+mn-ea"/>
                <a:cs typeface="+mn-cs"/>
              </a:rPr>
              <a:t>tableone</a:t>
            </a:r>
            <a:r>
              <a:rPr lang="en-AU" i="1" dirty="0">
                <a:solidFill>
                  <a:schemeClr val="tx1">
                    <a:lumMod val="50000"/>
                    <a:lumOff val="50000"/>
                  </a:schemeClr>
                </a:solidFill>
              </a:rPr>
              <a:t> package for continuous and categorical variables respectively so they are used here for an overall descriptive comparison across all key variables, not as a formal test of the primary hypothesis.)</a:t>
            </a:r>
            <a:endParaRPr lang="en-US" i="1" dirty="0">
              <a:solidFill>
                <a:schemeClr val="tx1">
                  <a:lumMod val="50000"/>
                  <a:lumOff val="50000"/>
                </a:schemeClr>
              </a:solidFill>
            </a:endParaRPr>
          </a:p>
          <a:p>
            <a:endParaRPr lang="en-US" dirty="0"/>
          </a:p>
          <a:p>
            <a:r>
              <a:rPr lang="en-US" u="sng" dirty="0"/>
              <a:t>The</a:t>
            </a:r>
            <a:r>
              <a:rPr lang="zh-CN" altLang="en-US" u="sng" dirty="0"/>
              <a:t> </a:t>
            </a:r>
            <a:r>
              <a:rPr lang="en-US" altLang="zh-CN" u="sng" dirty="0"/>
              <a:t>results show:</a:t>
            </a:r>
            <a:endParaRPr lang="en-US" u="sng" dirty="0"/>
          </a:p>
          <a:p>
            <a:pPr marL="171450" indent="-171450">
              <a:buFont typeface="Arial" panose="020B0604020202020204" pitchFamily="34" charset="0"/>
              <a:buChar char="•"/>
            </a:pPr>
            <a:r>
              <a:rPr lang="en-US" dirty="0"/>
              <a:t>AF differs substantially between treatment groups (since</a:t>
            </a:r>
            <a:r>
              <a:rPr lang="zh-CN" altLang="en-US" dirty="0"/>
              <a:t> </a:t>
            </a:r>
            <a:r>
              <a:rPr lang="en-US" dirty="0"/>
              <a:t>p-value &lt; 0.001</a:t>
            </a:r>
            <a:r>
              <a:rPr lang="en-US"/>
              <a:t>) — </a:t>
            </a:r>
            <a:r>
              <a:rPr lang="en-US" dirty="0"/>
              <a:t>group A has a much lower mean AF (37.5) compared to B (76.9) and C (69.2), confirming a strong treatment effect on the primary continuous outcome. </a:t>
            </a:r>
          </a:p>
          <a:p>
            <a:pPr marL="171450" indent="-171450">
              <a:buFont typeface="Arial" panose="020B0604020202020204" pitchFamily="34" charset="0"/>
              <a:buChar char="•"/>
            </a:pPr>
            <a:r>
              <a:rPr lang="en-US" dirty="0"/>
              <a:t>Age differs marginally across groups (p = 0.040), with group B being slightly older on average (36.3 years vs 34.3 and 32.4 for A and C respectively) — this imbalance is small but sufficient to warrant including age as a covariate in formal models. </a:t>
            </a:r>
          </a:p>
          <a:p>
            <a:pPr marL="171450" indent="-171450">
              <a:buFont typeface="Arial" panose="020B0604020202020204" pitchFamily="34" charset="0"/>
              <a:buChar char="•"/>
            </a:pPr>
            <a:r>
              <a:rPr lang="en-US" dirty="0"/>
              <a:t>Sex distribution (p = 0.615) and PR rate (p = 0.084) do not differ significantly across treatment groups.</a:t>
            </a:r>
          </a:p>
          <a:p>
            <a:pPr marL="171450" indent="-171450">
              <a:buFontTx/>
              <a:buChar cha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Notes: </a:t>
            </a:r>
            <a:r>
              <a:rPr lang="en-US" i="1" dirty="0"/>
              <a:t>ANOVA is a statistical test that checks whether the average value of a variable (like AF or age) differs across three or more groups. The chi-squared (χ²) test does the same for counts and percentages (like sex or PR rate). A p-value below 0.05 is the conventional threshold for saying a difference is “statistically significant” — i.e. unlikely to be due to chance alone.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Main</a:t>
            </a:r>
            <a:r>
              <a:rPr lang="zh-CN" altLang="en-US" b="1" dirty="0"/>
              <a:t> </a:t>
            </a:r>
            <a:r>
              <a:rPr lang="en-US" altLang="zh-CN" b="1" dirty="0"/>
              <a:t>Relationships</a:t>
            </a:r>
            <a:endParaRPr lang="en-US" b="1" dirty="0"/>
          </a:p>
          <a:p>
            <a:r>
              <a:rPr lang="en-US" dirty="0"/>
              <a:t>We first examine the effect of treatment on AF which is the primary outcome of interest. A </a:t>
            </a:r>
            <a:r>
              <a:rPr lang="en-US" b="1" dirty="0"/>
              <a:t>Kruskal-Wallis test </a:t>
            </a:r>
            <a:r>
              <a:rPr lang="en-US" dirty="0"/>
              <a:t>was used as it does not assume normality across groups. </a:t>
            </a:r>
            <a:r>
              <a:rPr lang="en-AU" i="1" dirty="0"/>
              <a:t>(Since AF is the primary outcome of interest, we examine its distribution more carefully before selecting a test. We examined the normality of AF using the histogram, which shows a roughly uniform spread rather than a bell-shaped curve, suggesting that the normality assumption required by ANOVA is not met. A Kruskal-Wallis test was therefore used instead which is a non-parametric alternative to ANOVA that does not assume any particular distribution, making it more appropriate for AF given its observed spread.)</a:t>
            </a:r>
            <a:endParaRPr lang="en-US" i="1" dirty="0"/>
          </a:p>
          <a:p>
            <a:endParaRPr lang="en-US" dirty="0"/>
          </a:p>
          <a:p>
            <a:r>
              <a:rPr lang="en-US" u="sng" dirty="0"/>
              <a:t>The results show:</a:t>
            </a:r>
          </a:p>
          <a:p>
            <a:pPr marL="171450" indent="-171450">
              <a:buFont typeface="Arial" panose="020B0604020202020204" pitchFamily="34" charset="0"/>
              <a:buChar char="•"/>
            </a:pPr>
            <a:r>
              <a:rPr lang="en-US" dirty="0"/>
              <a:t>AF differs significantly across treatment groups (p &lt; 0.001) — the non-overlapping interquartile ranges between group A and groups B/C confirm a clinically meaningful treatment effect</a:t>
            </a:r>
          </a:p>
          <a:p>
            <a:pPr marL="171450" indent="-171450">
              <a:buFont typeface="Arial" panose="020B0604020202020204" pitchFamily="34" charset="0"/>
              <a:buChar char="•"/>
            </a:pPr>
            <a:r>
              <a:rPr lang="en-US" dirty="0"/>
              <a:t>Group A has substantially lower AF (mean 37.5, median 36.4) compared to B (mean 76.9, median 77.8) and C (mean 69.2, median 64.3)</a:t>
            </a:r>
          </a:p>
          <a:p>
            <a:pPr marL="171450" indent="-171450">
              <a:buFont typeface="Arial" panose="020B0604020202020204" pitchFamily="34" charset="0"/>
              <a:buChar char="•"/>
            </a:pPr>
            <a:r>
              <a:rPr lang="en-US" dirty="0"/>
              <a:t>Group C shows greater variability (SD = 13.0) compared to A (SD = 6.4), suggesting more heterogeneous responses to treatment C — this may be worth investigating in formal modelling</a:t>
            </a:r>
          </a:p>
          <a:p>
            <a:pPr marL="171450" indent="-171450">
              <a:buFontTx/>
              <a:buChar char="-"/>
            </a:pPr>
            <a:endParaRPr lang="en-US" dirty="0"/>
          </a:p>
          <a:p>
            <a:pPr marL="0" indent="0">
              <a:buFontTx/>
              <a:buNone/>
            </a:pPr>
            <a:r>
              <a:rPr lang="en-US" b="1" i="1" dirty="0"/>
              <a:t>Notes: </a:t>
            </a:r>
            <a:r>
              <a:rPr lang="en-US" i="1" dirty="0"/>
              <a:t>The box in each boxplot shows the middle 50% of values (the interquartile range, or IQR) — think of it as where most participants sit. The line inside the box is the median. When the boxes of two groups do not overlap at all, the difference between them is very likely to be real rather than random.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Main</a:t>
            </a:r>
            <a:r>
              <a:rPr lang="zh-CN" altLang="en-US" b="1" dirty="0"/>
              <a:t> </a:t>
            </a:r>
            <a:r>
              <a:rPr lang="en-US" altLang="zh-CN" b="1" dirty="0"/>
              <a:t>Relationships</a:t>
            </a:r>
            <a:endParaRPr lang="en-US" dirty="0"/>
          </a:p>
          <a:p>
            <a:r>
              <a:rPr lang="en-US" dirty="0"/>
              <a:t>We next examine the effect of treatment on PR, the binary outcome. A </a:t>
            </a:r>
            <a:r>
              <a:rPr lang="el-GR" b="1" dirty="0"/>
              <a:t>χ² </a:t>
            </a:r>
            <a:r>
              <a:rPr lang="en-US" b="1" dirty="0"/>
              <a:t>test </a:t>
            </a:r>
            <a:r>
              <a:rPr lang="en-US" dirty="0"/>
              <a:t>was used to compare PR rates across treatment groups.</a:t>
            </a:r>
          </a:p>
          <a:p>
            <a:endParaRPr lang="en-US" dirty="0"/>
          </a:p>
          <a:p>
            <a:r>
              <a:rPr lang="en-US" u="sng" dirty="0"/>
              <a:t>The results show:</a:t>
            </a:r>
          </a:p>
          <a:p>
            <a:pPr marL="171450" indent="-171450">
              <a:buFont typeface="Arial" panose="020B0604020202020204" pitchFamily="34" charset="0"/>
              <a:buChar char="•"/>
            </a:pPr>
            <a:r>
              <a:rPr lang="en-US" dirty="0"/>
              <a:t>PR rate does not differ significantly across groups (p = 0.084) — the result is marginal and does not reach the conventional threshold of 0.05, so conclusions should be drawn cautiously</a:t>
            </a:r>
          </a:p>
          <a:p>
            <a:pPr marL="171450" indent="-171450">
              <a:buFont typeface="Arial" panose="020B0604020202020204" pitchFamily="34" charset="0"/>
              <a:buChar char="•"/>
            </a:pPr>
            <a:r>
              <a:rPr lang="en-US" dirty="0"/>
              <a:t>Treatment B has the highest PR rate (65.5%), followed by A (53.1%), while C has the lowest (38.5%)</a:t>
            </a:r>
          </a:p>
          <a:p>
            <a:pPr marL="171450" indent="-171450">
              <a:buFont typeface="Arial" panose="020B0604020202020204" pitchFamily="34" charset="0"/>
              <a:buChar char="•"/>
            </a:pPr>
            <a:r>
              <a:rPr lang="en-US" dirty="0"/>
              <a:t>Treatment C shows a notable disconnect — despite having the second highest mean AF (69.2), it has the lowest PR rate, suggesting that high AF does not guarantee a positive response</a:t>
            </a:r>
            <a:r>
              <a:rPr lang="zh-CN" altLang="en-US" dirty="0"/>
              <a:t> </a:t>
            </a:r>
            <a:r>
              <a:rPr lang="en-US" altLang="zh-CN" dirty="0"/>
              <a:t>in</a:t>
            </a:r>
            <a:r>
              <a:rPr lang="zh-CN" altLang="en-US" dirty="0"/>
              <a:t> </a:t>
            </a:r>
            <a:r>
              <a:rPr lang="en-US" altLang="zh-CN" dirty="0"/>
              <a:t>PR</a:t>
            </a:r>
          </a:p>
          <a:p>
            <a:pPr marL="171450" indent="-171450">
              <a:buFont typeface="Arial" panose="020B0604020202020204" pitchFamily="34" charset="0"/>
              <a:buChar char="•"/>
            </a:pPr>
            <a:r>
              <a:rPr lang="en-US" dirty="0"/>
              <a:t>The relationship between treatment, AF, and PR is non-trivial — both outcomes should be modelled separately rather than assumed to follow the same treatment effect</a:t>
            </a:r>
          </a:p>
          <a:p>
            <a:pPr marL="171450" indent="-171450">
              <a:buFontTx/>
              <a:buChar char="-"/>
            </a:pPr>
            <a:endParaRPr lang="en-US" dirty="0"/>
          </a:p>
          <a:p>
            <a:pPr marL="0" indent="0">
              <a:buFontTx/>
              <a:buNone/>
            </a:pPr>
            <a:r>
              <a:rPr lang="en-US" b="1" i="1" dirty="0"/>
              <a:t>Notes: </a:t>
            </a:r>
            <a:r>
              <a:rPr lang="en-US" i="1" dirty="0"/>
              <a:t>You might expect the treatment that produces the highest AF to also produce the highest PR rate — but Treatment C breaks this pattern. It achieves the second highest average AF (69.2), yet has the lowest PR rate (38.5%). This suggests that AF and PR are not simply two measures of the same thing; the two outcomes may be driven by different biological mechanisms, and each should be modelled separately.</a:t>
            </a:r>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Covariant</a:t>
            </a:r>
            <a:r>
              <a:rPr lang="zh-CN" altLang="en-US" b="1" dirty="0"/>
              <a:t> </a:t>
            </a:r>
            <a:r>
              <a:rPr lang="en-US" altLang="zh-CN" b="1" dirty="0"/>
              <a:t>1</a:t>
            </a:r>
            <a:r>
              <a:rPr lang="zh-CN" altLang="en-US" b="1" dirty="0"/>
              <a:t> </a:t>
            </a:r>
            <a:r>
              <a:rPr lang="en-US" altLang="zh-CN" b="1" dirty="0"/>
              <a:t>-</a:t>
            </a:r>
            <a:r>
              <a:rPr lang="zh-CN" altLang="en-US" b="1" dirty="0"/>
              <a:t> </a:t>
            </a:r>
            <a:r>
              <a:rPr lang="en-US" altLang="zh-CN" b="1" dirty="0"/>
              <a:t>Age</a:t>
            </a:r>
            <a:endParaRPr lang="en-US" b="1" dirty="0"/>
          </a:p>
          <a:p>
            <a:r>
              <a:rPr lang="en-US" dirty="0"/>
              <a:t>We examine whether age is associated with either outcome, as it may confound the relationship between treatment and AF/PR. A </a:t>
            </a:r>
            <a:r>
              <a:rPr lang="en-US" b="1" dirty="0"/>
              <a:t>linear regression </a:t>
            </a:r>
            <a:r>
              <a:rPr lang="en-US" dirty="0"/>
              <a:t>line is fitted for the AF vs Age scatter plot, and a </a:t>
            </a:r>
            <a:r>
              <a:rPr lang="en-US" b="1" dirty="0"/>
              <a:t>boxplot</a:t>
            </a:r>
            <a:r>
              <a:rPr lang="en-US" dirty="0"/>
              <a:t> compares age distribution between PR groups.</a:t>
            </a:r>
          </a:p>
          <a:p>
            <a:endParaRPr lang="en-US" dirty="0"/>
          </a:p>
          <a:p>
            <a:r>
              <a:rPr lang="en-US" u="sng" dirty="0"/>
              <a:t>The results show:</a:t>
            </a:r>
          </a:p>
          <a:p>
            <a:pPr marL="171450" indent="-171450">
              <a:buFont typeface="Arial" panose="020B0604020202020204" pitchFamily="34" charset="0"/>
              <a:buChar char="•"/>
            </a:pPr>
            <a:r>
              <a:rPr lang="en-US" dirty="0"/>
              <a:t>Age shows a positive association with AF (left plot) — however, the considerable scatter around the regression line suggests the relationship is largely driven by other differences rather than age alone</a:t>
            </a:r>
          </a:p>
          <a:p>
            <a:pPr marL="171450" indent="-171450">
              <a:buFont typeface="Arial" panose="020B0604020202020204" pitchFamily="34" charset="0"/>
              <a:buChar char="•"/>
            </a:pPr>
            <a:r>
              <a:rPr lang="en-US" dirty="0"/>
              <a:t>Age is strongly associated with PR outcome (right plot) — participants with PR = yes are considerably older (median 40 years) compared to those without (median 29 years), with minimal overlap between the two IQRs</a:t>
            </a:r>
          </a:p>
          <a:p>
            <a:pPr marL="171450" indent="-171450">
              <a:buFont typeface="Arial" panose="020B0604020202020204" pitchFamily="34" charset="0"/>
              <a:buChar char="•"/>
            </a:pPr>
            <a:r>
              <a:rPr lang="en-US" dirty="0"/>
              <a:t>Age should be included as a covariate in both models — it differs marginally across treatment groups (p = 0.040) and shows a strong marginal association with PR outcome</a:t>
            </a:r>
          </a:p>
          <a:p>
            <a:pPr marL="171450" indent="-171450">
              <a:buFontTx/>
              <a:buChar char="-"/>
            </a:pPr>
            <a:endParaRPr lang="en-US" dirty="0"/>
          </a:p>
          <a:p>
            <a:pPr marL="0" indent="0">
              <a:buFontTx/>
              <a:buNone/>
            </a:pPr>
            <a:r>
              <a:rPr lang="en-US" b="1" i="1" dirty="0"/>
              <a:t>Notes: </a:t>
            </a:r>
            <a:r>
              <a:rPr lang="en-US" i="1" dirty="0"/>
              <a:t>The IQR (interquartile range) is the range covering the middle 50% of participants. When the IQRs of two groups barely overlap — as seen here between PR = yes and PR = no — it means the difference in age between the two groups is large and consistent, not just a fluke driven by a few extreme values.</a:t>
            </a:r>
            <a:r>
              <a:rPr lang="zh-CN" altLang="en-US" i="1" dirty="0"/>
              <a:t> </a:t>
            </a:r>
            <a:r>
              <a:rPr lang="en-AU" altLang="zh-CN" i="1" dirty="0"/>
              <a:t>A regression line shows the average trend across all data points — the steeper and tighter the points cluster around it, the stronger the relationship. Here the line has a positive slope (going upward left to right), meaning AF tends to increase with age, but the wide scatter tells us age alone is not enough to predict AF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Covariant</a:t>
            </a:r>
            <a:r>
              <a:rPr lang="zh-CN" altLang="en-US" b="1" dirty="0"/>
              <a:t> </a:t>
            </a:r>
            <a:r>
              <a:rPr lang="en-US" altLang="zh-CN" b="1" dirty="0"/>
              <a:t>1</a:t>
            </a:r>
            <a:r>
              <a:rPr lang="zh-CN" altLang="en-US" b="1" dirty="0"/>
              <a:t> </a:t>
            </a:r>
            <a:r>
              <a:rPr lang="en-US" altLang="zh-CN" b="1" dirty="0"/>
              <a:t>–</a:t>
            </a:r>
            <a:r>
              <a:rPr lang="zh-CN" altLang="en-US" b="1" dirty="0"/>
              <a:t> </a:t>
            </a:r>
            <a:r>
              <a:rPr lang="en-US" altLang="zh-CN" b="1" dirty="0"/>
              <a:t>Age</a:t>
            </a:r>
            <a:endParaRPr lang="en-US" b="1" dirty="0"/>
          </a:p>
          <a:p>
            <a:r>
              <a:rPr lang="en-US" dirty="0"/>
              <a:t>Since age is associated with AF, we examine whether the effect of age on AF differs across treatment groups — which would indicate a </a:t>
            </a:r>
            <a:r>
              <a:rPr lang="en-US" b="1" dirty="0"/>
              <a:t>treatment × age interaction </a:t>
            </a:r>
            <a:r>
              <a:rPr lang="en-US" dirty="0"/>
              <a:t>and require an interaction term in the model.</a:t>
            </a:r>
          </a:p>
          <a:p>
            <a:endParaRPr lang="en-US" dirty="0"/>
          </a:p>
          <a:p>
            <a:r>
              <a:rPr lang="en-US" u="sng" dirty="0"/>
              <a:t>The results show:</a:t>
            </a:r>
          </a:p>
          <a:p>
            <a:pPr marL="171450" indent="-171450">
              <a:buFont typeface="Arial" panose="020B0604020202020204" pitchFamily="34" charset="0"/>
              <a:buChar char="•"/>
            </a:pPr>
            <a:r>
              <a:rPr lang="en-US" dirty="0"/>
              <a:t>The three regression lines run parallel — the slope of AF on age is consistent across all three treatment groups, indicating no treatment × age interaction</a:t>
            </a:r>
          </a:p>
          <a:p>
            <a:pPr marL="171450" indent="-171450">
              <a:buFont typeface="Arial" panose="020B0604020202020204" pitchFamily="34" charset="0"/>
              <a:buChar char="•"/>
            </a:pPr>
            <a:r>
              <a:rPr lang="en-US" dirty="0"/>
              <a:t>Treatment remains the dominant predictor — the large vertical separation between group A and groups B/C is maintained across the entire age range, confirming that treatment group explains far more variation in AF than age alone</a:t>
            </a:r>
          </a:p>
          <a:p>
            <a:pPr marL="171450" indent="-171450">
              <a:buFont typeface="Arial" panose="020B0604020202020204" pitchFamily="34" charset="0"/>
              <a:buChar char="•"/>
            </a:pPr>
            <a:r>
              <a:rPr lang="en-US" dirty="0"/>
              <a:t>Modelling implication: age should be included as an additive covariate only — no interaction term between age and treatment is needed in the AF model</a:t>
            </a:r>
          </a:p>
          <a:p>
            <a:pPr marL="171450" indent="-171450">
              <a:buFontTx/>
              <a:buChar char="-"/>
            </a:pPr>
            <a:endParaRPr lang="en-US" dirty="0"/>
          </a:p>
          <a:p>
            <a:pPr marL="0" indent="0">
              <a:buFontTx/>
              <a:buNone/>
            </a:pPr>
            <a:r>
              <a:rPr lang="en-US" b="1" i="1" dirty="0"/>
              <a:t>Notes: </a:t>
            </a:r>
            <a:r>
              <a:rPr lang="en-US" b="0" i="1" dirty="0"/>
              <a:t>The "interaction" between treatment and age would mean that the effect of age on AF is different depending on which treatment a participant received — for example, if age mattered a lot for Treatment A but barely at all for Treatment B. The plot shows this is not the case: the three lines run roughly parallel, meaning age has a similar effect on AF regardless of treatment. This simplifies the model — we can just add age as a straightforward adjustment (an "additive covariate") without needing a more complicated interaction term.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Covariant</a:t>
            </a:r>
            <a:r>
              <a:rPr lang="zh-CN" altLang="en-US" b="1" dirty="0"/>
              <a:t> </a:t>
            </a:r>
            <a:r>
              <a:rPr lang="en-US" altLang="zh-CN" b="1" dirty="0"/>
              <a:t>2</a:t>
            </a:r>
            <a:r>
              <a:rPr lang="zh-CN" altLang="en-US" b="1" dirty="0"/>
              <a:t> </a:t>
            </a:r>
            <a:r>
              <a:rPr lang="en-US" altLang="zh-CN" b="1" dirty="0"/>
              <a:t>–</a:t>
            </a:r>
            <a:r>
              <a:rPr lang="zh-CN" altLang="en-US" b="1" dirty="0"/>
              <a:t> </a:t>
            </a:r>
            <a:r>
              <a:rPr lang="en-US" altLang="zh-CN" b="1" dirty="0"/>
              <a:t>Sex</a:t>
            </a:r>
          </a:p>
          <a:p>
            <a:r>
              <a:rPr lang="en-US" b="0" dirty="0"/>
              <a:t>We examine whether sex is associated with either outcome, as it may act as a confounding variable in the relationship between treatment and AF/PR.</a:t>
            </a:r>
          </a:p>
          <a:p>
            <a:endParaRPr lang="en-US" b="0" dirty="0"/>
          </a:p>
          <a:p>
            <a:r>
              <a:rPr lang="en-US" b="0" u="sng" dirty="0"/>
              <a:t>The results show:</a:t>
            </a:r>
          </a:p>
          <a:p>
            <a:pPr marL="171450" indent="-171450">
              <a:buFont typeface="Arial" panose="020B0604020202020204" pitchFamily="34" charset="0"/>
              <a:buChar char="•"/>
            </a:pPr>
            <a:r>
              <a:rPr lang="en-US" b="0" dirty="0"/>
              <a:t>AF distributions are similar between females and males (median 60.2 vs 63.5) — the largely overlapping IQRs suggest sex has little marginal association with AF</a:t>
            </a:r>
          </a:p>
          <a:p>
            <a:pPr marL="171450" indent="-171450">
              <a:buFont typeface="Arial" panose="020B0604020202020204" pitchFamily="34" charset="0"/>
              <a:buChar char="•"/>
            </a:pPr>
            <a:r>
              <a:rPr lang="en-US" b="0" dirty="0"/>
              <a:t>PR rate is identical across sexes (51% in both females and males) — sex shows no meaningful association with the binary outcome</a:t>
            </a:r>
          </a:p>
          <a:p>
            <a:pPr marL="171450" indent="-171450">
              <a:buFont typeface="Arial" panose="020B0604020202020204" pitchFamily="34" charset="0"/>
              <a:buChar char="•"/>
            </a:pPr>
            <a:r>
              <a:rPr lang="en-US" b="0" dirty="0"/>
              <a:t>Modelling implication: sex is unlikely to be an important covariate for either outcome — inclusion in formal models is optional and unlikely to materially change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85510-169D-F6D5-BA7D-6CA7D059D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51A06-10C9-D22B-D8CE-0157FF0FF3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73384-177B-E0AC-92B6-6F5D3C43CF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Covariant</a:t>
            </a:r>
            <a:r>
              <a:rPr lang="zh-CN" altLang="en-US" b="1" dirty="0"/>
              <a:t> </a:t>
            </a:r>
            <a:r>
              <a:rPr lang="en-US" altLang="zh-CN" b="1" dirty="0"/>
              <a:t>2</a:t>
            </a:r>
            <a:r>
              <a:rPr lang="zh-CN" altLang="en-US" b="1" dirty="0"/>
              <a:t> </a:t>
            </a:r>
            <a:r>
              <a:rPr lang="en-US" altLang="zh-CN" b="1" dirty="0"/>
              <a:t>–</a:t>
            </a:r>
            <a:r>
              <a:rPr lang="zh-CN" altLang="en-US" b="1" dirty="0"/>
              <a:t> </a:t>
            </a:r>
            <a:r>
              <a:rPr lang="en-US" altLang="zh-CN" b="1" dirty="0"/>
              <a:t>Sex</a:t>
            </a:r>
          </a:p>
          <a:p>
            <a:r>
              <a:rPr lang="en-US" dirty="0"/>
              <a:t>Since sex shows minimal marginal association with AF, we examine whether the effect of treatment on AF nevertheless differs by sex — which would indicate a </a:t>
            </a:r>
            <a:r>
              <a:rPr lang="en-US" b="1" dirty="0"/>
              <a:t>treatment × sex interaction </a:t>
            </a:r>
            <a:r>
              <a:rPr lang="en-US" dirty="0"/>
              <a:t>requiring an interaction term in the model.</a:t>
            </a:r>
          </a:p>
          <a:p>
            <a:endParaRPr lang="en-US" dirty="0"/>
          </a:p>
          <a:p>
            <a:r>
              <a:rPr lang="en-US" u="sng" dirty="0"/>
              <a:t>The results show:</a:t>
            </a:r>
          </a:p>
          <a:p>
            <a:pPr marL="171450" indent="-171450">
              <a:buFont typeface="Arial" panose="020B0604020202020204" pitchFamily="34" charset="0"/>
              <a:buChar char="•"/>
            </a:pPr>
            <a:r>
              <a:rPr lang="en-US" sz="1200" kern="1200" dirty="0">
                <a:solidFill>
                  <a:schemeClr val="tx1"/>
                </a:solidFill>
                <a:latin typeface="+mn-lt"/>
                <a:ea typeface="+mn-ea"/>
                <a:cs typeface="+mn-cs"/>
              </a:rPr>
              <a:t>AF</a:t>
            </a:r>
            <a:r>
              <a:rPr lang="en-US" dirty="0"/>
              <a:t> distributions overlap substantially between females and males within each treatment group — the IQRs are largely overlapping across all three groups, providing little evidence of a treatment × sex interaction</a:t>
            </a:r>
          </a:p>
          <a:p>
            <a:pPr marL="171450" indent="-171450">
              <a:buFont typeface="Arial" panose="020B0604020202020204" pitchFamily="34" charset="0"/>
              <a:buChar char="•"/>
            </a:pPr>
            <a:r>
              <a:rPr lang="en-US" dirty="0"/>
              <a:t>The treatment effect is consistent across both sexes — the large separation between group A and groups B/C is maintained regardless of sex, confirming treatment remains the primary driver of AF</a:t>
            </a:r>
          </a:p>
          <a:p>
            <a:pPr marL="171450" indent="-171450">
              <a:buFont typeface="Arial" panose="020B0604020202020204" pitchFamily="34" charset="0"/>
              <a:buChar char="•"/>
            </a:pPr>
            <a:r>
              <a:rPr lang="en-US" dirty="0"/>
              <a:t>Modelling implication: no treatment × sex interaction term is needed in the AF model </a:t>
            </a:r>
          </a:p>
          <a:p>
            <a:pPr marL="171450" indent="-171450">
              <a:buFontTx/>
              <a:buChar char="-"/>
            </a:pPr>
            <a:endParaRPr lang="en-US" b="0" dirty="0"/>
          </a:p>
          <a:p>
            <a:pPr marL="0" indent="0">
              <a:buFontTx/>
              <a:buNone/>
            </a:pPr>
            <a:r>
              <a:rPr lang="en-US" b="1" i="1" dirty="0"/>
              <a:t>Notes: </a:t>
            </a:r>
            <a:r>
              <a:rPr lang="en-US" b="0" i="1" dirty="0"/>
              <a:t>Same logic as Slide 7 - if there were a treatment × sex interaction, the gap between female and male AF would look very different across the three treatment groups. Because the male/female boxes overlap substantially within every group, there is no evidence of this — sex does not change how strongly treatment affects AF.</a:t>
            </a:r>
          </a:p>
        </p:txBody>
      </p:sp>
      <p:sp>
        <p:nvSpPr>
          <p:cNvPr id="4" name="Slide Number Placeholder 3">
            <a:extLst>
              <a:ext uri="{FF2B5EF4-FFF2-40B4-BE49-F238E27FC236}">
                <a16:creationId xmlns:a16="http://schemas.microsoft.com/office/drawing/2014/main" id="{F8244415-EF40-6FAF-3E7C-71F1907C3FB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70972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Covariant</a:t>
            </a:r>
            <a:r>
              <a:rPr lang="zh-CN" altLang="en-US" b="1" dirty="0"/>
              <a:t> </a:t>
            </a:r>
            <a:r>
              <a:rPr lang="en-US" altLang="zh-CN" b="1" dirty="0"/>
              <a:t>3</a:t>
            </a:r>
            <a:r>
              <a:rPr lang="zh-CN" altLang="en-US" b="1" dirty="0"/>
              <a:t> </a:t>
            </a:r>
            <a:r>
              <a:rPr lang="en-US" altLang="zh-CN" b="1" dirty="0"/>
              <a:t>–</a:t>
            </a:r>
            <a:r>
              <a:rPr lang="zh-CN" altLang="en-US" b="1" dirty="0"/>
              <a:t> </a:t>
            </a:r>
            <a:r>
              <a:rPr lang="en-US" altLang="zh-CN" b="1" dirty="0"/>
              <a:t>SNPs</a:t>
            </a:r>
            <a:endParaRPr lang="en-US" dirty="0"/>
          </a:p>
          <a:p>
            <a:r>
              <a:rPr lang="en-US" dirty="0"/>
              <a:t>The 51 SNP variables are encoded under an additive genetic model, where each SNP is represented as the number of alternate alleles carried by each participant (0, 1, or 2). Two example SNPs are shown to illustrate the typical dosage distribution in this sample.</a:t>
            </a:r>
          </a:p>
          <a:p>
            <a:endParaRPr lang="en-US" dirty="0"/>
          </a:p>
          <a:p>
            <a:r>
              <a:rPr lang="en-US" u="sng" dirty="0"/>
              <a:t>The results show:</a:t>
            </a:r>
            <a:endParaRPr lang="en-US" dirty="0"/>
          </a:p>
          <a:p>
            <a:pPr marL="171450" indent="-171450">
              <a:buFont typeface="Arial" panose="020B0604020202020204" pitchFamily="34" charset="0"/>
              <a:buChar char="•"/>
            </a:pPr>
            <a:r>
              <a:rPr lang="en-US" dirty="0"/>
              <a:t>Heterozygous carriers (dosage = 1) dominate across most SNPs — for example, rs91154 has 54% of participants at dosage 1, which is typical across most loci</a:t>
            </a:r>
          </a:p>
          <a:p>
            <a:pPr marL="171450" indent="-171450">
              <a:buFont typeface="Arial" panose="020B0604020202020204" pitchFamily="34" charset="0"/>
              <a:buChar char="•"/>
            </a:pPr>
            <a:r>
              <a:rPr lang="en-US" dirty="0"/>
              <a:t>Dosage 2 groups are consistently small — rs19486 has only 28 participants (28%) and rs91154 only 21 (21%) at dosage 2, meaning effect estimates at this level will have high uncertainty</a:t>
            </a:r>
          </a:p>
          <a:p>
            <a:pPr marL="171450" indent="-171450">
              <a:buFont typeface="Arial" panose="020B0604020202020204" pitchFamily="34" charset="0"/>
              <a:buChar char="•"/>
            </a:pPr>
            <a:r>
              <a:rPr lang="en-US" dirty="0"/>
              <a:t>Modelling implication: interpret dosage 2 effects with caution — small cell sizes limit statistical power for detecting homozygous alternate effects, and results at this dosage level may be unstable</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i="1" dirty="0"/>
              <a:t>Notes: </a:t>
            </a:r>
            <a:r>
              <a:rPr lang="en-US" b="0" i="1" dirty="0"/>
              <a:t>Every person carries two copies of each gene — one from each parent. "Homozygous reference" (dosage = 0) means both copies are the common version. "Heterozygous" (dosage = 1) means one copy is common and one is the alternate (less common) version. "Homozygous alternate" (dosage = 2) means both copies are the alternate version. The additive model simply counts how many alternate copies a person carries, on the assumption that each extra copy adds roughly the same amount of effect.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752A1-D729-FD38-7ED6-0CBF488CA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C13C9-AFE6-0E32-BAA1-EB0233592B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5538B-3F97-6369-F9CD-1BA1B6AF31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Covariant</a:t>
            </a:r>
            <a:r>
              <a:rPr lang="zh-CN" altLang="en-US" b="1" dirty="0"/>
              <a:t> </a:t>
            </a:r>
            <a:r>
              <a:rPr lang="en-US" altLang="zh-CN" b="1" dirty="0"/>
              <a:t>3</a:t>
            </a:r>
            <a:r>
              <a:rPr lang="zh-CN" altLang="en-US" b="1" dirty="0"/>
              <a:t> </a:t>
            </a:r>
            <a:r>
              <a:rPr lang="en-US" altLang="zh-CN" b="1" dirty="0"/>
              <a:t>–</a:t>
            </a:r>
            <a:r>
              <a:rPr lang="zh-CN" altLang="en-US" b="1" dirty="0"/>
              <a:t> </a:t>
            </a:r>
            <a:r>
              <a:rPr lang="en-US" altLang="zh-CN" b="1" dirty="0"/>
              <a:t>SNPs</a:t>
            </a:r>
            <a:endParaRPr lang="en-US" dirty="0"/>
          </a:p>
          <a:p>
            <a:r>
              <a:rPr lang="en-US" dirty="0"/>
              <a:t>To identify which SNPs show the strongest marginal associations with outcomes, we compute </a:t>
            </a:r>
            <a:r>
              <a:rPr lang="en-US" b="1" dirty="0"/>
              <a:t>Spearman correlations </a:t>
            </a:r>
            <a:r>
              <a:rPr lang="en-US" dirty="0"/>
              <a:t>between each SNP's alternate allele dosage and AF (left), and plot </a:t>
            </a:r>
            <a:r>
              <a:rPr lang="en-US" b="1" dirty="0"/>
              <a:t>PR probability </a:t>
            </a:r>
            <a:r>
              <a:rPr lang="en-US" b="0" dirty="0"/>
              <a:t>(</a:t>
            </a:r>
            <a:r>
              <a:rPr lang="en-US" b="0" i="1" dirty="0"/>
              <a:t>which refers to the proportion of participants with a ‘PR = </a:t>
            </a:r>
            <a:r>
              <a:rPr lang="en-US" b="0" i="1" dirty="0" err="1"/>
              <a:t>yes’</a:t>
            </a:r>
            <a:r>
              <a:rPr lang="en-US" b="0" i="1" dirty="0"/>
              <a:t> response within a given SNP dosage group—for example, 75% of participants in the rs91154 dosage 0 group have a ‘PR = </a:t>
            </a:r>
            <a:r>
              <a:rPr lang="en-US" b="0" i="1" dirty="0" err="1"/>
              <a:t>yes’</a:t>
            </a:r>
            <a:r>
              <a:rPr lang="en-US" b="0" i="1" dirty="0"/>
              <a:t> response, whereas only 38% of those in the dosage 2 group do</a:t>
            </a:r>
            <a:r>
              <a:rPr lang="en-US" b="0" dirty="0"/>
              <a:t>) </a:t>
            </a:r>
            <a:r>
              <a:rPr lang="en-US" dirty="0"/>
              <a:t>across dosage levels for all 50 SNPs with the top 10 by maximum PR probability highlighted (right).</a:t>
            </a:r>
          </a:p>
          <a:p>
            <a:endParaRPr lang="en-US" dirty="0"/>
          </a:p>
          <a:p>
            <a:r>
              <a:rPr lang="en-US" u="sng" dirty="0"/>
              <a:t>The results show:</a:t>
            </a:r>
          </a:p>
          <a:p>
            <a:pPr marL="171450" indent="-171450">
              <a:buFont typeface="Arial" panose="020B0604020202020204" pitchFamily="34" charset="0"/>
              <a:buChar char="•"/>
            </a:pPr>
            <a:r>
              <a:rPr lang="en-US" dirty="0"/>
              <a:t>All SNP–AF correlations are weak (|r| ≤ 0.23) — rs19486 (r = −0.231) and rs26922 (r = −0.194) show the strongest negative associations with AF, while rs88128 (r = 0.165) shows the strongest positive association</a:t>
            </a:r>
          </a:p>
          <a:p>
            <a:pPr marL="171450" indent="-171450">
              <a:buFont typeface="Arial" panose="020B0604020202020204" pitchFamily="34" charset="0"/>
              <a:buChar char="•"/>
            </a:pPr>
            <a:r>
              <a:rPr lang="en-US" dirty="0"/>
              <a:t>PR probability patterns are heterogeneous — rs91154 shows a consistent decline from dosage 0 (75%) to dosage 2 (38%), while rs56579 shows a sharp increase at dosage 2 (75%), suggesting different underlying mechanisms</a:t>
            </a:r>
          </a:p>
          <a:p>
            <a:pPr marL="171450" indent="-171450">
              <a:buFont typeface="Arial" panose="020B0604020202020204" pitchFamily="34" charset="0"/>
              <a:buChar char="•"/>
            </a:pPr>
            <a:r>
              <a:rPr lang="en-US" dirty="0"/>
              <a:t>All findings are exploratory — with 50 SNPs tested simultaneously, multiple testing correction will be required in formal modelling before any SNP can be considered a candidate predictor</a:t>
            </a:r>
          </a:p>
          <a:p>
            <a:pPr marL="171450" indent="-171450">
              <a:buFontTx/>
              <a:buChar char="-"/>
            </a:pPr>
            <a:endParaRPr lang="en-US" dirty="0"/>
          </a:p>
          <a:p>
            <a:pPr marL="0" indent="0">
              <a:buFontTx/>
              <a:buNone/>
            </a:pPr>
            <a:r>
              <a:rPr lang="en-US" b="1" i="1" dirty="0"/>
              <a:t>Notes: </a:t>
            </a:r>
            <a:r>
              <a:rPr lang="en-US" i="1" dirty="0"/>
              <a:t>A Spearman correlation (r) measures how consistently two variables move together, on a scale from −1 (perfectly opposite) to +1 (perfectly in sync), with 0 meaning no relationship. Values of |r| ≤ 0.25 are considered weak associations — meaning that while there is a slight tendency for AF to rise or fall with SNP dosage, the relationship is not strong or reliable enough to draw firm conclusions without formal modelling.</a:t>
            </a:r>
            <a:r>
              <a:rPr lang="zh-CN" altLang="en-US" i="1" dirty="0"/>
              <a:t> </a:t>
            </a:r>
            <a:r>
              <a:rPr lang="en-AU" altLang="zh-CN" i="1" dirty="0"/>
              <a:t>The right plot uses PR rate (the more</a:t>
            </a:r>
            <a:r>
              <a:rPr lang="zh-CN" altLang="en-US" i="1" dirty="0"/>
              <a:t> </a:t>
            </a:r>
            <a:r>
              <a:rPr lang="en-US" altLang="zh-CN" i="1" dirty="0"/>
              <a:t>complex</a:t>
            </a:r>
            <a:r>
              <a:rPr lang="zh-CN" altLang="en-US" i="1" dirty="0"/>
              <a:t> </a:t>
            </a:r>
            <a:r>
              <a:rPr lang="en-US" altLang="zh-CN" i="1" dirty="0"/>
              <a:t>way</a:t>
            </a:r>
            <a:r>
              <a:rPr lang="en-AU" altLang="zh-CN" i="1" dirty="0"/>
              <a:t>) rather than correlation because PR is a yes/no outcome and</a:t>
            </a:r>
            <a:r>
              <a:rPr lang="zh-CN" altLang="en-US" i="1" dirty="0"/>
              <a:t> </a:t>
            </a:r>
            <a:r>
              <a:rPr lang="en-AU" altLang="zh-CN" i="1" dirty="0"/>
              <a:t>you cannot calculate a meaningful correlation between a dosage number and a binary response the same way you can with a continuous variable like AF. Plotting the actual proportion of "yes" responses at each dosage level is a more direct and interpretable way to show whether carrying more alternate alleles is associated with a higher or lower chance of a positive response.</a:t>
            </a:r>
            <a:endParaRPr lang="en-US" b="1" i="1" dirty="0"/>
          </a:p>
        </p:txBody>
      </p:sp>
      <p:sp>
        <p:nvSpPr>
          <p:cNvPr id="4" name="Slide Number Placeholder 3">
            <a:extLst>
              <a:ext uri="{FF2B5EF4-FFF2-40B4-BE49-F238E27FC236}">
                <a16:creationId xmlns:a16="http://schemas.microsoft.com/office/drawing/2014/main" id="{9D816BD9-6EA8-5007-5640-0C26B783501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55635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t>
            </a:r>
            <a:r>
              <a:rPr lang="en-US" dirty="0" err="1"/>
              <a:t>summarises</a:t>
            </a:r>
            <a:r>
              <a:rPr lang="en-US" dirty="0"/>
              <a:t> the key patterns identified through </a:t>
            </a:r>
            <a:r>
              <a:rPr lang="en-US" b="1" dirty="0"/>
              <a:t>Exploratory Data Analysis (EDA)</a:t>
            </a:r>
            <a:r>
              <a:rPr lang="en-US" dirty="0"/>
              <a:t> — an initial examination of the data to understand its structure, identify relationships between variables, and inform the choice of predictors and model specifications before formal statistical modelling begins.</a:t>
            </a:r>
          </a:p>
          <a:p>
            <a:endParaRPr lang="en-US" dirty="0"/>
          </a:p>
          <a:p>
            <a:r>
              <a:rPr lang="en-US" u="sng" dirty="0"/>
              <a:t>Conclusion:</a:t>
            </a:r>
          </a:p>
          <a:p>
            <a:pPr marL="171450" indent="-171450">
              <a:buFont typeface="Arial" panose="020B0604020202020204" pitchFamily="34" charset="0"/>
              <a:buChar char="•"/>
            </a:pPr>
            <a:r>
              <a:rPr lang="en-US" b="0" i="0" dirty="0"/>
              <a:t>The</a:t>
            </a:r>
            <a:r>
              <a:rPr lang="en-US" b="1" i="1" dirty="0"/>
              <a:t> AF model </a:t>
            </a:r>
            <a:r>
              <a:rPr lang="en-US" dirty="0"/>
              <a:t>should include treatment as the primary predictor, age as an additive covariate, and no interaction terms for treatment × age or treatment × sex. SNPs rs19486, rs26922, and rs88128 show the strongest marginal associations with AF and are worth testing in formal modelling.</a:t>
            </a:r>
          </a:p>
          <a:p>
            <a:pPr marL="171450" indent="-171450">
              <a:buFont typeface="Arial" panose="020B0604020202020204" pitchFamily="34" charset="0"/>
              <a:buChar char="•"/>
            </a:pPr>
            <a:r>
              <a:rPr lang="en-US" b="0" i="0" dirty="0"/>
              <a:t>The</a:t>
            </a:r>
            <a:r>
              <a:rPr lang="en-US" b="1" i="1" dirty="0"/>
              <a:t> PR model </a:t>
            </a:r>
            <a:r>
              <a:rPr lang="en-US" dirty="0"/>
              <a:t>should similarly include treatment and age as predictors. Notably, high AF does not guarantee PR — treatment C achieves the second highest AF but the lowest PR rate (38.5%), suggesting the two outcomes are driven by partially different mechanisms. SNPs rs91154 and rs56579 show the most notable dosage-dependent patterns for PR.</a:t>
            </a:r>
          </a:p>
          <a:p>
            <a:pPr marL="171450" indent="-171450">
              <a:buFont typeface="Arial" panose="020B0604020202020204" pitchFamily="34" charset="0"/>
              <a:buChar char="•"/>
            </a:pPr>
            <a:r>
              <a:rPr lang="en-US" b="1" i="1" dirty="0"/>
              <a:t>All findings are exploratory </a:t>
            </a:r>
            <a:r>
              <a:rPr lang="en-US" dirty="0"/>
              <a:t>and should be interpreted with caution — formal modelling with appropriate multiple testing correction is required before drawing any conclusions.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i="1" dirty="0"/>
              <a:t>Notes: </a:t>
            </a:r>
            <a:r>
              <a:rPr lang="en-US" b="0" i="1" dirty="0"/>
              <a:t>The modelling implications listed here are about which variables to include when building a formal statistical model. "Primary predictor" means the main variable we think is driving the outcome (treatment). "Additive covariate" means a variable we adjust for because it is associated with the outcome but is not the main focus — adding it to the model makes the treatment effect estimate more accurate. The SNPs listed are candidates worth testing, but because 50 SNPs were examined simultaneously, there is a risk of false positives — a correction for multiple testing will be applied in formal modelling to reduce this risk.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4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680"/>
          </a:solidFill>
          <a:ln w="12700">
            <a:solidFill>
              <a:srgbClr val="0D7680"/>
            </a:solidFill>
            <a:prstDash val="solid"/>
          </a:ln>
        </p:spPr>
        <p:txBody>
          <a:bodyPr/>
          <a:lstStyle/>
          <a:p>
            <a:endParaRPr lang="en-US"/>
          </a:p>
        </p:txBody>
      </p:sp>
      <p:sp>
        <p:nvSpPr>
          <p:cNvPr id="3" name="Shape 1"/>
          <p:cNvSpPr/>
          <p:nvPr/>
        </p:nvSpPr>
        <p:spPr>
          <a:xfrm>
            <a:off x="164592" y="0"/>
            <a:ext cx="64008" cy="5143500"/>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548640" y="1005840"/>
            <a:ext cx="8046720" cy="64008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FITFR Study</a:t>
            </a:r>
            <a:endParaRPr lang="en-US" sz="4200" dirty="0"/>
          </a:p>
        </p:txBody>
      </p:sp>
      <p:sp>
        <p:nvSpPr>
          <p:cNvPr id="5" name="Text 3"/>
          <p:cNvSpPr/>
          <p:nvPr/>
        </p:nvSpPr>
        <p:spPr>
          <a:xfrm>
            <a:off x="548640" y="1691640"/>
            <a:ext cx="8046720" cy="457200"/>
          </a:xfrm>
          <a:prstGeom prst="rect">
            <a:avLst/>
          </a:prstGeom>
          <a:noFill/>
          <a:ln/>
        </p:spPr>
        <p:txBody>
          <a:bodyPr wrap="square" rtlCol="0" anchor="ctr"/>
          <a:lstStyle/>
          <a:p>
            <a:pPr marL="0" indent="0">
              <a:buNone/>
            </a:pPr>
            <a:r>
              <a:rPr lang="en-US" sz="2200" dirty="0">
                <a:solidFill>
                  <a:srgbClr val="A8D5D9"/>
                </a:solidFill>
                <a:latin typeface="Cambria" pitchFamily="34" charset="0"/>
                <a:ea typeface="Cambria" pitchFamily="34" charset="-122"/>
                <a:cs typeface="Cambria" pitchFamily="34" charset="-120"/>
              </a:rPr>
              <a:t>Summary Statistics &amp; Key Relationships</a:t>
            </a:r>
            <a:endParaRPr lang="en-US" sz="2200" dirty="0"/>
          </a:p>
        </p:txBody>
      </p:sp>
      <p:sp>
        <p:nvSpPr>
          <p:cNvPr id="6" name="Shape 4"/>
          <p:cNvSpPr/>
          <p:nvPr/>
        </p:nvSpPr>
        <p:spPr>
          <a:xfrm>
            <a:off x="548640" y="2240280"/>
            <a:ext cx="7863840" cy="0"/>
          </a:xfrm>
          <a:prstGeom prst="line">
            <a:avLst/>
          </a:prstGeom>
          <a:noFill/>
          <a:ln w="12700">
            <a:solidFill>
              <a:srgbClr val="0D7680"/>
            </a:solidFill>
            <a:prstDash val="solid"/>
          </a:ln>
        </p:spPr>
        <p:txBody>
          <a:bodyPr/>
          <a:lstStyle/>
          <a:p>
            <a:endParaRPr lang="en-US"/>
          </a:p>
        </p:txBody>
      </p:sp>
      <p:sp>
        <p:nvSpPr>
          <p:cNvPr id="7" name="Text 5"/>
          <p:cNvSpPr/>
          <p:nvPr/>
        </p:nvSpPr>
        <p:spPr>
          <a:xfrm>
            <a:off x="548640" y="2880360"/>
            <a:ext cx="6858000" cy="1645920"/>
          </a:xfrm>
          <a:prstGeom prst="rect">
            <a:avLst/>
          </a:prstGeom>
          <a:noFill/>
          <a:ln/>
        </p:spPr>
        <p:txBody>
          <a:bodyPr wrap="square" rtlCol="0" anchor="ctr"/>
          <a:lstStyle/>
          <a:p>
            <a:pPr marL="342900" indent="-342900">
              <a:spcAft>
                <a:spcPts val="400"/>
              </a:spcAft>
              <a:buSzPct val="100000"/>
              <a:buChar char="•"/>
            </a:pPr>
            <a:r>
              <a:rPr lang="en-US" sz="1400" dirty="0">
                <a:solidFill>
                  <a:srgbClr val="C8D8E8"/>
                </a:solidFill>
                <a:latin typeface="Calibri" pitchFamily="34" charset="0"/>
                <a:ea typeface="Calibri" pitchFamily="34" charset="-122"/>
                <a:cs typeface="Calibri" pitchFamily="34" charset="-120"/>
              </a:rPr>
              <a:t>100 participants  ·  58 variables</a:t>
            </a:r>
            <a:endParaRPr lang="en-US" sz="1400" dirty="0"/>
          </a:p>
          <a:p>
            <a:pPr marL="342900" indent="-342900">
              <a:spcAft>
                <a:spcPts val="400"/>
              </a:spcAft>
              <a:buSzPct val="100000"/>
              <a:buChar char="•"/>
            </a:pPr>
            <a:r>
              <a:rPr lang="en-US" sz="1400" dirty="0">
                <a:solidFill>
                  <a:srgbClr val="C8D8E8"/>
                </a:solidFill>
                <a:latin typeface="Calibri" pitchFamily="34" charset="0"/>
                <a:ea typeface="Calibri" pitchFamily="34" charset="-122"/>
                <a:cs typeface="Calibri" pitchFamily="34" charset="-120"/>
              </a:rPr>
              <a:t>3 treatment groups (A, B, C)</a:t>
            </a:r>
            <a:endParaRPr lang="en-US" sz="1400" dirty="0"/>
          </a:p>
          <a:p>
            <a:pPr marL="342900" indent="-342900">
              <a:spcAft>
                <a:spcPts val="400"/>
              </a:spcAft>
              <a:buSzPct val="100000"/>
              <a:buChar char="•"/>
            </a:pPr>
            <a:r>
              <a:rPr lang="en-US" sz="1400" dirty="0">
                <a:solidFill>
                  <a:srgbClr val="C8D8E8"/>
                </a:solidFill>
                <a:latin typeface="Calibri" pitchFamily="34" charset="0"/>
                <a:ea typeface="Calibri" pitchFamily="34" charset="-122"/>
                <a:cs typeface="Calibri" pitchFamily="34" charset="-120"/>
              </a:rPr>
              <a:t>Outcomes: AF (continuous) &amp; PR (binary)</a:t>
            </a:r>
            <a:endParaRPr lang="en-US" sz="1400" dirty="0"/>
          </a:p>
          <a:p>
            <a:pPr marL="342900" indent="-342900">
              <a:spcAft>
                <a:spcPts val="400"/>
              </a:spcAft>
              <a:buSzPct val="100000"/>
              <a:buChar char="•"/>
            </a:pPr>
            <a:r>
              <a:rPr lang="en-US" sz="1400" dirty="0">
                <a:solidFill>
                  <a:srgbClr val="C8D8E8"/>
                </a:solidFill>
                <a:latin typeface="Calibri" pitchFamily="34" charset="0"/>
                <a:ea typeface="Calibri" pitchFamily="34" charset="-122"/>
                <a:cs typeface="Calibri" pitchFamily="34" charset="-120"/>
              </a:rPr>
              <a:t>Covariates: age, sex, 51 SNPs</a:t>
            </a:r>
            <a:endParaRPr lang="en-US" sz="1400" dirty="0"/>
          </a:p>
        </p:txBody>
      </p:sp>
      <p:sp>
        <p:nvSpPr>
          <p:cNvPr id="8" name="Text 6"/>
          <p:cNvSpPr/>
          <p:nvPr/>
        </p:nvSpPr>
        <p:spPr>
          <a:xfrm>
            <a:off x="548640" y="4389120"/>
            <a:ext cx="3657600" cy="274320"/>
          </a:xfrm>
          <a:prstGeom prst="rect">
            <a:avLst/>
          </a:prstGeom>
          <a:noFill/>
          <a:ln/>
        </p:spPr>
        <p:txBody>
          <a:bodyPr wrap="square" rtlCol="0" anchor="ctr"/>
          <a:lstStyle/>
          <a:p>
            <a:pPr marL="0" indent="0">
              <a:buNone/>
            </a:pPr>
            <a:r>
              <a:rPr lang="en-US" sz="1000" i="1" dirty="0">
                <a:solidFill>
                  <a:srgbClr val="64748B"/>
                </a:solidFill>
              </a:rPr>
              <a:t>Exploratory Data Analysis</a:t>
            </a:r>
            <a:r>
              <a:rPr lang="zh-CN" altLang="en-US" sz="1000" i="1" dirty="0">
                <a:solidFill>
                  <a:srgbClr val="64748B"/>
                </a:solidFill>
              </a:rPr>
              <a:t> </a:t>
            </a:r>
            <a:r>
              <a:rPr lang="en-US" altLang="zh-CN" sz="1000" i="1" dirty="0">
                <a:solidFill>
                  <a:srgbClr val="64748B"/>
                </a:solidFill>
              </a:rPr>
              <a:t>by</a:t>
            </a:r>
            <a:r>
              <a:rPr lang="zh-CN" altLang="en-US" sz="1000" i="1" dirty="0">
                <a:solidFill>
                  <a:srgbClr val="64748B"/>
                </a:solidFill>
              </a:rPr>
              <a:t> </a:t>
            </a:r>
            <a:r>
              <a:rPr lang="en-US" altLang="zh-CN" sz="1000" i="1" dirty="0">
                <a:solidFill>
                  <a:srgbClr val="64748B"/>
                </a:solidFill>
              </a:rPr>
              <a:t>Kailin Xue</a:t>
            </a:r>
            <a:endParaRPr lang="en-US" sz="1000" dirty="0"/>
          </a:p>
        </p:txBody>
      </p:sp>
      <p:sp>
        <p:nvSpPr>
          <p:cNvPr id="14" name="TextBox 13">
            <a:extLst>
              <a:ext uri="{FF2B5EF4-FFF2-40B4-BE49-F238E27FC236}">
                <a16:creationId xmlns:a16="http://schemas.microsoft.com/office/drawing/2014/main" id="{7F04C685-A9DA-322B-F734-7326F15D418B}"/>
              </a:ext>
            </a:extLst>
          </p:cNvPr>
          <p:cNvSpPr txBox="1"/>
          <p:nvPr/>
        </p:nvSpPr>
        <p:spPr>
          <a:xfrm>
            <a:off x="548640" y="2527309"/>
            <a:ext cx="7863840" cy="523220"/>
          </a:xfrm>
          <a:prstGeom prst="rect">
            <a:avLst/>
          </a:prstGeom>
          <a:noFill/>
        </p:spPr>
        <p:txBody>
          <a:bodyPr wrap="square" rtlCol="0">
            <a:spAutoFit/>
          </a:bodyPr>
          <a:lstStyle/>
          <a:p>
            <a:r>
              <a:rPr lang="en-US" sz="1400" b="1" i="1" u="sng" dirty="0">
                <a:solidFill>
                  <a:schemeClr val="accent5">
                    <a:lumMod val="20000"/>
                    <a:lumOff val="80000"/>
                  </a:schemeClr>
                </a:solidFill>
              </a:rPr>
              <a:t>Study</a:t>
            </a:r>
            <a:r>
              <a:rPr lang="zh-CN" altLang="en-US" sz="1400" b="1" i="1" u="sng" dirty="0">
                <a:solidFill>
                  <a:schemeClr val="accent5">
                    <a:lumMod val="20000"/>
                    <a:lumOff val="80000"/>
                  </a:schemeClr>
                </a:solidFill>
              </a:rPr>
              <a:t> </a:t>
            </a:r>
            <a:r>
              <a:rPr lang="en-US" altLang="zh-CN" sz="1400" b="1" i="1" u="sng" dirty="0">
                <a:solidFill>
                  <a:schemeClr val="accent5">
                    <a:lumMod val="20000"/>
                    <a:lumOff val="80000"/>
                  </a:schemeClr>
                </a:solidFill>
              </a:rPr>
              <a:t>Objective:</a:t>
            </a:r>
            <a:r>
              <a:rPr lang="zh-CN" altLang="en-US" sz="1400" b="1" i="1" u="sng" dirty="0">
                <a:solidFill>
                  <a:schemeClr val="accent5">
                    <a:lumMod val="20000"/>
                    <a:lumOff val="80000"/>
                  </a:schemeClr>
                </a:solidFill>
              </a:rPr>
              <a:t> </a:t>
            </a:r>
            <a:r>
              <a:rPr lang="en-AU" altLang="zh-CN" sz="1400" dirty="0">
                <a:solidFill>
                  <a:schemeClr val="accent5">
                    <a:lumMod val="20000"/>
                    <a:lumOff val="80000"/>
                  </a:schemeClr>
                </a:solidFill>
              </a:rPr>
              <a:t>To investigate the effect of treatment on AF and PR, accounting for age, sex, and SNP genetic variation.</a:t>
            </a:r>
            <a:endParaRPr lang="en-US" sz="1400" dirty="0">
              <a:solidFill>
                <a:schemeClr val="accent5">
                  <a:lumMod val="20000"/>
                  <a:lumOff val="8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OVERVIEW</a:t>
            </a:r>
            <a:endParaRPr lang="en-US" sz="750" dirty="0"/>
          </a:p>
        </p:txBody>
      </p:sp>
      <p:sp>
        <p:nvSpPr>
          <p:cNvPr id="4" name="Text 2"/>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Dataset at a Glance</a:t>
            </a:r>
            <a:endParaRPr lang="en-US" sz="2200" dirty="0"/>
          </a:p>
        </p:txBody>
      </p:sp>
      <p:sp>
        <p:nvSpPr>
          <p:cNvPr id="5" name="Shape 3"/>
          <p:cNvSpPr/>
          <p:nvPr/>
        </p:nvSpPr>
        <p:spPr>
          <a:xfrm>
            <a:off x="365760" y="1078992"/>
            <a:ext cx="8412480" cy="0"/>
          </a:xfrm>
          <a:prstGeom prst="line">
            <a:avLst/>
          </a:prstGeom>
          <a:noFill/>
          <a:ln w="12700">
            <a:solidFill>
              <a:srgbClr val="DDE3EA"/>
            </a:solidFill>
            <a:prstDash val="solid"/>
          </a:ln>
        </p:spPr>
        <p:txBody>
          <a:bodyPr/>
          <a:lstStyle/>
          <a:p>
            <a:endParaRPr lang="en-US"/>
          </a:p>
        </p:txBody>
      </p:sp>
      <p:sp>
        <p:nvSpPr>
          <p:cNvPr id="6" name="Shape 4"/>
          <p:cNvSpPr/>
          <p:nvPr/>
        </p:nvSpPr>
        <p:spPr>
          <a:xfrm>
            <a:off x="320040" y="1234440"/>
            <a:ext cx="2651760" cy="13258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7" name="Text 5"/>
          <p:cNvSpPr/>
          <p:nvPr/>
        </p:nvSpPr>
        <p:spPr>
          <a:xfrm>
            <a:off x="320040" y="1344168"/>
            <a:ext cx="2651760" cy="689458"/>
          </a:xfrm>
          <a:prstGeom prst="rect">
            <a:avLst/>
          </a:prstGeom>
          <a:noFill/>
          <a:ln/>
        </p:spPr>
        <p:txBody>
          <a:bodyPr wrap="square" rtlCol="0" anchor="b"/>
          <a:lstStyle/>
          <a:p>
            <a:pPr marL="0" indent="0" algn="ctr">
              <a:buNone/>
            </a:pPr>
            <a:r>
              <a:rPr lang="en-US" sz="3600" b="1" dirty="0">
                <a:solidFill>
                  <a:srgbClr val="0D7680"/>
                </a:solidFill>
                <a:latin typeface="Cambria" pitchFamily="34" charset="0"/>
                <a:ea typeface="Cambria" pitchFamily="34" charset="-122"/>
                <a:cs typeface="Cambria" pitchFamily="34" charset="-120"/>
              </a:rPr>
              <a:t>100</a:t>
            </a:r>
            <a:endParaRPr lang="en-US" sz="3600" dirty="0"/>
          </a:p>
        </p:txBody>
      </p:sp>
      <p:sp>
        <p:nvSpPr>
          <p:cNvPr id="8" name="Text 6"/>
          <p:cNvSpPr/>
          <p:nvPr/>
        </p:nvSpPr>
        <p:spPr>
          <a:xfrm>
            <a:off x="320040" y="1950415"/>
            <a:ext cx="2651760" cy="256032"/>
          </a:xfrm>
          <a:prstGeom prst="rect">
            <a:avLst/>
          </a:prstGeom>
          <a:noFill/>
          <a:ln/>
        </p:spPr>
        <p:txBody>
          <a:bodyPr wrap="square" rtlCol="0" anchor="ctr"/>
          <a:lstStyle/>
          <a:p>
            <a:pPr marL="0" indent="0" algn="ctr">
              <a:buNone/>
            </a:pPr>
            <a:r>
              <a:rPr lang="en-US" sz="1100" b="1" dirty="0">
                <a:solidFill>
                  <a:srgbClr val="1B2B4B"/>
                </a:solidFill>
              </a:rPr>
              <a:t>Participants</a:t>
            </a:r>
            <a:endParaRPr lang="en-US" sz="1100" dirty="0"/>
          </a:p>
        </p:txBody>
      </p:sp>
      <p:sp>
        <p:nvSpPr>
          <p:cNvPr id="9" name="Text 7"/>
          <p:cNvSpPr/>
          <p:nvPr/>
        </p:nvSpPr>
        <p:spPr>
          <a:xfrm>
            <a:off x="320040" y="2242109"/>
            <a:ext cx="2651760" cy="201168"/>
          </a:xfrm>
          <a:prstGeom prst="rect">
            <a:avLst/>
          </a:prstGeom>
          <a:noFill/>
          <a:ln/>
        </p:spPr>
        <p:txBody>
          <a:bodyPr wrap="square" rtlCol="0" anchor="ctr"/>
          <a:lstStyle/>
          <a:p>
            <a:pPr marL="0" indent="0" algn="ctr">
              <a:buNone/>
            </a:pPr>
            <a:r>
              <a:rPr lang="en-US" sz="900" dirty="0">
                <a:solidFill>
                  <a:srgbClr val="64748B"/>
                </a:solidFill>
              </a:rPr>
              <a:t>complete cases</a:t>
            </a:r>
            <a:endParaRPr lang="en-US" sz="900" dirty="0"/>
          </a:p>
        </p:txBody>
      </p:sp>
      <p:sp>
        <p:nvSpPr>
          <p:cNvPr id="10" name="Shape 8"/>
          <p:cNvSpPr/>
          <p:nvPr/>
        </p:nvSpPr>
        <p:spPr>
          <a:xfrm>
            <a:off x="3246120" y="1234440"/>
            <a:ext cx="2651760" cy="13258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1" name="Text 9"/>
          <p:cNvSpPr/>
          <p:nvPr/>
        </p:nvSpPr>
        <p:spPr>
          <a:xfrm>
            <a:off x="3246120" y="1344168"/>
            <a:ext cx="2651760" cy="689458"/>
          </a:xfrm>
          <a:prstGeom prst="rect">
            <a:avLst/>
          </a:prstGeom>
          <a:noFill/>
          <a:ln/>
        </p:spPr>
        <p:txBody>
          <a:bodyPr wrap="square" rtlCol="0" anchor="b"/>
          <a:lstStyle/>
          <a:p>
            <a:pPr marL="0" indent="0" algn="ctr">
              <a:buNone/>
            </a:pPr>
            <a:r>
              <a:rPr lang="en-US" sz="3600" b="1" dirty="0">
                <a:solidFill>
                  <a:srgbClr val="0D7680"/>
                </a:solidFill>
                <a:latin typeface="Cambria" pitchFamily="34" charset="0"/>
                <a:ea typeface="Cambria" pitchFamily="34" charset="-122"/>
                <a:cs typeface="Cambria" pitchFamily="34" charset="-120"/>
              </a:rPr>
              <a:t>58</a:t>
            </a:r>
            <a:endParaRPr lang="en-US" sz="3600" dirty="0"/>
          </a:p>
        </p:txBody>
      </p:sp>
      <p:sp>
        <p:nvSpPr>
          <p:cNvPr id="12" name="Text 10"/>
          <p:cNvSpPr/>
          <p:nvPr/>
        </p:nvSpPr>
        <p:spPr>
          <a:xfrm>
            <a:off x="3246120" y="1950415"/>
            <a:ext cx="2651760" cy="256032"/>
          </a:xfrm>
          <a:prstGeom prst="rect">
            <a:avLst/>
          </a:prstGeom>
          <a:noFill/>
          <a:ln/>
        </p:spPr>
        <p:txBody>
          <a:bodyPr wrap="square" rtlCol="0" anchor="ctr"/>
          <a:lstStyle/>
          <a:p>
            <a:pPr marL="0" indent="0" algn="ctr">
              <a:buNone/>
            </a:pPr>
            <a:r>
              <a:rPr lang="en-US" sz="1100" b="1" dirty="0">
                <a:solidFill>
                  <a:srgbClr val="1B2B4B"/>
                </a:solidFill>
              </a:rPr>
              <a:t>Variables</a:t>
            </a:r>
            <a:endParaRPr lang="en-US" sz="1100" dirty="0"/>
          </a:p>
        </p:txBody>
      </p:sp>
      <p:sp>
        <p:nvSpPr>
          <p:cNvPr id="13" name="Text 11"/>
          <p:cNvSpPr/>
          <p:nvPr/>
        </p:nvSpPr>
        <p:spPr>
          <a:xfrm>
            <a:off x="3246120" y="2242109"/>
            <a:ext cx="2651760" cy="201168"/>
          </a:xfrm>
          <a:prstGeom prst="rect">
            <a:avLst/>
          </a:prstGeom>
          <a:noFill/>
          <a:ln/>
        </p:spPr>
        <p:txBody>
          <a:bodyPr wrap="square" rtlCol="0" anchor="ctr"/>
          <a:lstStyle/>
          <a:p>
            <a:pPr marL="0" indent="0" algn="ctr">
              <a:buNone/>
            </a:pPr>
            <a:r>
              <a:rPr lang="en-US" sz="900" dirty="0">
                <a:solidFill>
                  <a:srgbClr val="64748B"/>
                </a:solidFill>
              </a:rPr>
              <a:t>4 demo · 51 SNPs · 2 outcomes (AF &amp; PR)</a:t>
            </a:r>
            <a:endParaRPr lang="en-US" sz="900" dirty="0"/>
          </a:p>
        </p:txBody>
      </p:sp>
      <p:sp>
        <p:nvSpPr>
          <p:cNvPr id="14" name="Shape 12"/>
          <p:cNvSpPr/>
          <p:nvPr/>
        </p:nvSpPr>
        <p:spPr>
          <a:xfrm>
            <a:off x="6172200" y="1234440"/>
            <a:ext cx="2651760" cy="13258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5" name="Text 13"/>
          <p:cNvSpPr/>
          <p:nvPr/>
        </p:nvSpPr>
        <p:spPr>
          <a:xfrm>
            <a:off x="6172200" y="1344168"/>
            <a:ext cx="2651760" cy="689458"/>
          </a:xfrm>
          <a:prstGeom prst="rect">
            <a:avLst/>
          </a:prstGeom>
          <a:noFill/>
          <a:ln/>
        </p:spPr>
        <p:txBody>
          <a:bodyPr wrap="square" rtlCol="0" anchor="b"/>
          <a:lstStyle/>
          <a:p>
            <a:pPr marL="0" indent="0" algn="ctr">
              <a:buNone/>
            </a:pPr>
            <a:r>
              <a:rPr lang="en-US" sz="3600" b="1" dirty="0">
                <a:solidFill>
                  <a:srgbClr val="0D7680"/>
                </a:solidFill>
                <a:latin typeface="Cambria" pitchFamily="34" charset="0"/>
                <a:ea typeface="Cambria" pitchFamily="34" charset="-122"/>
                <a:cs typeface="Cambria" pitchFamily="34" charset="-120"/>
              </a:rPr>
              <a:t>3</a:t>
            </a:r>
            <a:endParaRPr lang="en-US" sz="3600" dirty="0"/>
          </a:p>
        </p:txBody>
      </p:sp>
      <p:sp>
        <p:nvSpPr>
          <p:cNvPr id="16" name="Text 14"/>
          <p:cNvSpPr/>
          <p:nvPr/>
        </p:nvSpPr>
        <p:spPr>
          <a:xfrm>
            <a:off x="6172200" y="1950415"/>
            <a:ext cx="2651760" cy="256032"/>
          </a:xfrm>
          <a:prstGeom prst="rect">
            <a:avLst/>
          </a:prstGeom>
          <a:noFill/>
          <a:ln/>
        </p:spPr>
        <p:txBody>
          <a:bodyPr wrap="square" rtlCol="0" anchor="ctr"/>
          <a:lstStyle/>
          <a:p>
            <a:pPr marL="0" indent="0" algn="ctr">
              <a:buNone/>
            </a:pPr>
            <a:r>
              <a:rPr lang="en-US" sz="1100" b="1" dirty="0">
                <a:solidFill>
                  <a:srgbClr val="1B2B4B"/>
                </a:solidFill>
              </a:rPr>
              <a:t>Treatment Arms</a:t>
            </a:r>
            <a:endParaRPr lang="en-US" sz="1100" dirty="0"/>
          </a:p>
        </p:txBody>
      </p:sp>
      <p:sp>
        <p:nvSpPr>
          <p:cNvPr id="17" name="Text 15"/>
          <p:cNvSpPr/>
          <p:nvPr/>
        </p:nvSpPr>
        <p:spPr>
          <a:xfrm>
            <a:off x="6172200" y="2242109"/>
            <a:ext cx="2651760" cy="201168"/>
          </a:xfrm>
          <a:prstGeom prst="rect">
            <a:avLst/>
          </a:prstGeom>
          <a:noFill/>
          <a:ln/>
        </p:spPr>
        <p:txBody>
          <a:bodyPr wrap="square" rtlCol="0" anchor="ctr"/>
          <a:lstStyle/>
          <a:p>
            <a:pPr marL="0" indent="0" algn="ctr">
              <a:buNone/>
            </a:pPr>
            <a:r>
              <a:rPr lang="en-US" sz="900" dirty="0">
                <a:solidFill>
                  <a:srgbClr val="64748B"/>
                </a:solidFill>
              </a:rPr>
              <a:t>A (n=32)  ·  B (n=29)  ·  C (n=39)</a:t>
            </a:r>
            <a:endParaRPr lang="en-US" sz="900" dirty="0"/>
          </a:p>
        </p:txBody>
      </p:sp>
      <p:sp>
        <p:nvSpPr>
          <p:cNvPr id="18" name="Shape 16"/>
          <p:cNvSpPr/>
          <p:nvPr/>
        </p:nvSpPr>
        <p:spPr>
          <a:xfrm>
            <a:off x="320040" y="2743200"/>
            <a:ext cx="2651760" cy="13258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9" name="Text 17"/>
          <p:cNvSpPr/>
          <p:nvPr/>
        </p:nvSpPr>
        <p:spPr>
          <a:xfrm>
            <a:off x="320040" y="2852928"/>
            <a:ext cx="2651760" cy="689458"/>
          </a:xfrm>
          <a:prstGeom prst="rect">
            <a:avLst/>
          </a:prstGeom>
          <a:noFill/>
          <a:ln/>
        </p:spPr>
        <p:txBody>
          <a:bodyPr wrap="square" rtlCol="0" anchor="b"/>
          <a:lstStyle/>
          <a:p>
            <a:pPr marL="0" indent="0" algn="ctr">
              <a:buNone/>
            </a:pPr>
            <a:r>
              <a:rPr lang="en-US" sz="3600" b="1" dirty="0">
                <a:solidFill>
                  <a:srgbClr val="0D7680"/>
                </a:solidFill>
                <a:latin typeface="Cambria" pitchFamily="34" charset="0"/>
                <a:ea typeface="Cambria" pitchFamily="34" charset="-122"/>
                <a:cs typeface="Cambria" pitchFamily="34" charset="-120"/>
              </a:rPr>
              <a:t>51/49</a:t>
            </a:r>
            <a:endParaRPr lang="en-US" sz="3600" dirty="0"/>
          </a:p>
        </p:txBody>
      </p:sp>
      <p:sp>
        <p:nvSpPr>
          <p:cNvPr id="20" name="Text 18"/>
          <p:cNvSpPr/>
          <p:nvPr/>
        </p:nvSpPr>
        <p:spPr>
          <a:xfrm>
            <a:off x="320040" y="3459175"/>
            <a:ext cx="2651760" cy="256032"/>
          </a:xfrm>
          <a:prstGeom prst="rect">
            <a:avLst/>
          </a:prstGeom>
          <a:noFill/>
          <a:ln/>
        </p:spPr>
        <p:txBody>
          <a:bodyPr wrap="square" rtlCol="0" anchor="ctr"/>
          <a:lstStyle/>
          <a:p>
            <a:pPr marL="0" indent="0" algn="ctr">
              <a:buNone/>
            </a:pPr>
            <a:r>
              <a:rPr lang="en-US" sz="1100" b="1" dirty="0">
                <a:solidFill>
                  <a:srgbClr val="1B2B4B"/>
                </a:solidFill>
              </a:rPr>
              <a:t>Female / Male</a:t>
            </a:r>
            <a:endParaRPr lang="en-US" sz="1100" dirty="0"/>
          </a:p>
        </p:txBody>
      </p:sp>
      <p:sp>
        <p:nvSpPr>
          <p:cNvPr id="21" name="Text 19"/>
          <p:cNvSpPr/>
          <p:nvPr/>
        </p:nvSpPr>
        <p:spPr>
          <a:xfrm>
            <a:off x="320040" y="3750869"/>
            <a:ext cx="2651760" cy="201168"/>
          </a:xfrm>
          <a:prstGeom prst="rect">
            <a:avLst/>
          </a:prstGeom>
          <a:noFill/>
          <a:ln/>
        </p:spPr>
        <p:txBody>
          <a:bodyPr wrap="square" rtlCol="0" anchor="ctr"/>
          <a:lstStyle/>
          <a:p>
            <a:pPr marL="0" indent="0" algn="ctr">
              <a:buNone/>
            </a:pPr>
            <a:r>
              <a:rPr lang="en-US" sz="900" dirty="0">
                <a:solidFill>
                  <a:srgbClr val="64748B"/>
                </a:solidFill>
              </a:rPr>
              <a:t>approximately balanced</a:t>
            </a:r>
            <a:endParaRPr lang="en-US" sz="900" dirty="0"/>
          </a:p>
        </p:txBody>
      </p:sp>
      <p:sp>
        <p:nvSpPr>
          <p:cNvPr id="22" name="Shape 20"/>
          <p:cNvSpPr/>
          <p:nvPr/>
        </p:nvSpPr>
        <p:spPr>
          <a:xfrm>
            <a:off x="3246120" y="2743200"/>
            <a:ext cx="2651760" cy="13258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23" name="Text 21"/>
          <p:cNvSpPr/>
          <p:nvPr/>
        </p:nvSpPr>
        <p:spPr>
          <a:xfrm>
            <a:off x="3246120" y="2852928"/>
            <a:ext cx="2651760" cy="689458"/>
          </a:xfrm>
          <a:prstGeom prst="rect">
            <a:avLst/>
          </a:prstGeom>
          <a:noFill/>
          <a:ln/>
        </p:spPr>
        <p:txBody>
          <a:bodyPr wrap="square" rtlCol="0" anchor="b"/>
          <a:lstStyle/>
          <a:p>
            <a:pPr marL="0" indent="0" algn="ctr">
              <a:buNone/>
            </a:pPr>
            <a:r>
              <a:rPr lang="en-US" sz="3600" b="1" dirty="0">
                <a:solidFill>
                  <a:srgbClr val="0D7680"/>
                </a:solidFill>
                <a:latin typeface="Cambria" pitchFamily="34" charset="0"/>
                <a:ea typeface="Cambria" pitchFamily="34" charset="-122"/>
                <a:cs typeface="Cambria" pitchFamily="34" charset="-120"/>
              </a:rPr>
              <a:t>34.2</a:t>
            </a:r>
            <a:endParaRPr lang="en-US" sz="3600" dirty="0"/>
          </a:p>
        </p:txBody>
      </p:sp>
      <p:sp>
        <p:nvSpPr>
          <p:cNvPr id="24" name="Text 22"/>
          <p:cNvSpPr/>
          <p:nvPr/>
        </p:nvSpPr>
        <p:spPr>
          <a:xfrm>
            <a:off x="3246120" y="3459175"/>
            <a:ext cx="2651760" cy="256032"/>
          </a:xfrm>
          <a:prstGeom prst="rect">
            <a:avLst/>
          </a:prstGeom>
          <a:noFill/>
          <a:ln/>
        </p:spPr>
        <p:txBody>
          <a:bodyPr wrap="square" rtlCol="0" anchor="ctr"/>
          <a:lstStyle/>
          <a:p>
            <a:pPr marL="0" indent="0" algn="ctr">
              <a:buNone/>
            </a:pPr>
            <a:r>
              <a:rPr lang="en-US" sz="1100" b="1" dirty="0">
                <a:solidFill>
                  <a:srgbClr val="1B2B4B"/>
                </a:solidFill>
              </a:rPr>
              <a:t>Mean Age (yrs)</a:t>
            </a:r>
            <a:endParaRPr lang="en-US" sz="1100" dirty="0"/>
          </a:p>
        </p:txBody>
      </p:sp>
      <p:sp>
        <p:nvSpPr>
          <p:cNvPr id="25" name="Text 23"/>
          <p:cNvSpPr/>
          <p:nvPr/>
        </p:nvSpPr>
        <p:spPr>
          <a:xfrm>
            <a:off x="3246120" y="3750869"/>
            <a:ext cx="2651760" cy="201168"/>
          </a:xfrm>
          <a:prstGeom prst="rect">
            <a:avLst/>
          </a:prstGeom>
          <a:noFill/>
          <a:ln/>
        </p:spPr>
        <p:txBody>
          <a:bodyPr wrap="square" rtlCol="0" anchor="ctr"/>
          <a:lstStyle/>
          <a:p>
            <a:pPr marL="0" indent="0" algn="ctr">
              <a:buNone/>
            </a:pPr>
            <a:r>
              <a:rPr lang="en-US" sz="900" dirty="0">
                <a:solidFill>
                  <a:srgbClr val="64748B"/>
                </a:solidFill>
              </a:rPr>
              <a:t>SD = 6.2  ·  range 25–45</a:t>
            </a:r>
            <a:endParaRPr lang="en-US" sz="900" dirty="0"/>
          </a:p>
        </p:txBody>
      </p:sp>
      <p:sp>
        <p:nvSpPr>
          <p:cNvPr id="26" name="Shape 24"/>
          <p:cNvSpPr/>
          <p:nvPr/>
        </p:nvSpPr>
        <p:spPr>
          <a:xfrm>
            <a:off x="6172200" y="2743200"/>
            <a:ext cx="2651760" cy="13258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27" name="Text 25"/>
          <p:cNvSpPr/>
          <p:nvPr/>
        </p:nvSpPr>
        <p:spPr>
          <a:xfrm>
            <a:off x="6172200" y="2852928"/>
            <a:ext cx="2651760" cy="689458"/>
          </a:xfrm>
          <a:prstGeom prst="rect">
            <a:avLst/>
          </a:prstGeom>
          <a:noFill/>
          <a:ln/>
        </p:spPr>
        <p:txBody>
          <a:bodyPr wrap="square" rtlCol="0" anchor="b"/>
          <a:lstStyle/>
          <a:p>
            <a:pPr marL="0" indent="0" algn="ctr">
              <a:buNone/>
            </a:pPr>
            <a:r>
              <a:rPr lang="en-US" sz="3600" b="1" dirty="0">
                <a:solidFill>
                  <a:srgbClr val="0D7680"/>
                </a:solidFill>
                <a:latin typeface="Cambria" pitchFamily="34" charset="0"/>
                <a:ea typeface="Cambria" pitchFamily="34" charset="-122"/>
                <a:cs typeface="Cambria" pitchFamily="34" charset="-120"/>
              </a:rPr>
              <a:t>61.3</a:t>
            </a:r>
            <a:endParaRPr lang="en-US" sz="3600" dirty="0"/>
          </a:p>
        </p:txBody>
      </p:sp>
      <p:sp>
        <p:nvSpPr>
          <p:cNvPr id="28" name="Text 26"/>
          <p:cNvSpPr/>
          <p:nvPr/>
        </p:nvSpPr>
        <p:spPr>
          <a:xfrm>
            <a:off x="6172200" y="3459175"/>
            <a:ext cx="2651760" cy="256032"/>
          </a:xfrm>
          <a:prstGeom prst="rect">
            <a:avLst/>
          </a:prstGeom>
          <a:noFill/>
          <a:ln/>
        </p:spPr>
        <p:txBody>
          <a:bodyPr wrap="square" rtlCol="0" anchor="ctr"/>
          <a:lstStyle/>
          <a:p>
            <a:pPr marL="0" indent="0" algn="ctr">
              <a:buNone/>
            </a:pPr>
            <a:r>
              <a:rPr lang="en-US" sz="1100" b="1" dirty="0">
                <a:solidFill>
                  <a:srgbClr val="1B2B4B"/>
                </a:solidFill>
              </a:rPr>
              <a:t>Mean AF</a:t>
            </a:r>
            <a:endParaRPr lang="en-US" sz="1100" dirty="0"/>
          </a:p>
        </p:txBody>
      </p:sp>
      <p:sp>
        <p:nvSpPr>
          <p:cNvPr id="29" name="Text 27"/>
          <p:cNvSpPr/>
          <p:nvPr/>
        </p:nvSpPr>
        <p:spPr>
          <a:xfrm>
            <a:off x="6172200" y="3750869"/>
            <a:ext cx="2651760" cy="201168"/>
          </a:xfrm>
          <a:prstGeom prst="rect">
            <a:avLst/>
          </a:prstGeom>
          <a:noFill/>
          <a:ln/>
        </p:spPr>
        <p:txBody>
          <a:bodyPr wrap="square" rtlCol="0" anchor="ctr"/>
          <a:lstStyle/>
          <a:p>
            <a:pPr marL="0" indent="0" algn="ctr">
              <a:buNone/>
            </a:pPr>
            <a:r>
              <a:rPr lang="en-US" sz="900" dirty="0">
                <a:solidFill>
                  <a:srgbClr val="64748B"/>
                </a:solidFill>
              </a:rPr>
              <a:t>SD = 19.8  ·  range 26–96</a:t>
            </a:r>
            <a:endParaRPr lang="en-US" sz="900" dirty="0"/>
          </a:p>
        </p:txBody>
      </p:sp>
      <p:sp>
        <p:nvSpPr>
          <p:cNvPr id="30" name="Text 28"/>
          <p:cNvSpPr/>
          <p:nvPr/>
        </p:nvSpPr>
        <p:spPr>
          <a:xfrm>
            <a:off x="320040" y="4248302"/>
            <a:ext cx="8503920" cy="689458"/>
          </a:xfrm>
          <a:prstGeom prst="rect">
            <a:avLst/>
          </a:prstGeom>
          <a:noFill/>
          <a:ln/>
        </p:spPr>
        <p:txBody>
          <a:bodyPr wrap="square" rtlCol="0" anchor="ctr"/>
          <a:lstStyle/>
          <a:p>
            <a:pPr marL="0" indent="0">
              <a:lnSpc>
                <a:spcPct val="150000"/>
              </a:lnSpc>
              <a:spcAft>
                <a:spcPts val="600"/>
              </a:spcAft>
              <a:buNone/>
            </a:pPr>
            <a:r>
              <a:rPr lang="en-US" sz="900" b="1" i="1" u="sng" dirty="0">
                <a:solidFill>
                  <a:srgbClr val="64748B"/>
                </a:solidFill>
              </a:rPr>
              <a:t>DATA</a:t>
            </a:r>
            <a:r>
              <a:rPr lang="zh-CN" altLang="en-US" sz="900" b="1" i="1" u="sng" dirty="0">
                <a:solidFill>
                  <a:srgbClr val="64748B"/>
                </a:solidFill>
              </a:rPr>
              <a:t> </a:t>
            </a:r>
            <a:r>
              <a:rPr lang="en-US" altLang="zh-CN" sz="900" b="1" i="1" u="sng" dirty="0">
                <a:solidFill>
                  <a:srgbClr val="64748B"/>
                </a:solidFill>
              </a:rPr>
              <a:t>NOTES:</a:t>
            </a:r>
          </a:p>
          <a:p>
            <a:pPr marL="171450" indent="-171450">
              <a:buFont typeface="Arial" panose="020B0604020202020204" pitchFamily="34" charset="0"/>
              <a:buChar char="•"/>
            </a:pPr>
            <a:r>
              <a:rPr lang="en-US" sz="900" dirty="0">
                <a:solidFill>
                  <a:srgbClr val="64748B"/>
                </a:solidFill>
              </a:rPr>
              <a:t>Column 2 </a:t>
            </a:r>
            <a:r>
              <a:rPr lang="en-US" sz="900" i="1" dirty="0">
                <a:solidFill>
                  <a:srgbClr val="64748B"/>
                </a:solidFill>
              </a:rPr>
              <a:t>(age): </a:t>
            </a:r>
            <a:r>
              <a:rPr lang="en-US" sz="900" dirty="0">
                <a:solidFill>
                  <a:srgbClr val="64748B"/>
                </a:solidFill>
              </a:rPr>
              <a:t>2 missing values recoded from sentinel −99  </a:t>
            </a:r>
          </a:p>
          <a:p>
            <a:pPr marL="171450" indent="-171450">
              <a:buFont typeface="Arial" panose="020B0604020202020204" pitchFamily="34" charset="0"/>
              <a:buChar char="•"/>
            </a:pPr>
            <a:r>
              <a:rPr lang="en-US" sz="900" dirty="0">
                <a:solidFill>
                  <a:srgbClr val="64748B"/>
                </a:solidFill>
              </a:rPr>
              <a:t>Column 5 </a:t>
            </a:r>
            <a:r>
              <a:rPr lang="en-US" sz="900" i="1" dirty="0">
                <a:solidFill>
                  <a:srgbClr val="64748B"/>
                </a:solidFill>
              </a:rPr>
              <a:t>(smoker): </a:t>
            </a:r>
            <a:r>
              <a:rPr lang="en-US" sz="900" dirty="0">
                <a:solidFill>
                  <a:srgbClr val="64748B"/>
                </a:solidFill>
              </a:rPr>
              <a:t>all N (zero-variance, excluded from modelling)  </a:t>
            </a:r>
          </a:p>
          <a:p>
            <a:pPr marL="171450" indent="-171450">
              <a:buFont typeface="Arial" panose="020B0604020202020204" pitchFamily="34" charset="0"/>
              <a:buChar char="•"/>
            </a:pPr>
            <a:r>
              <a:rPr lang="en-US" sz="900" dirty="0">
                <a:solidFill>
                  <a:srgbClr val="64748B"/>
                </a:solidFill>
              </a:rPr>
              <a:t>Column 56 </a:t>
            </a:r>
            <a:r>
              <a:rPr lang="en-US" sz="900" i="1" dirty="0">
                <a:solidFill>
                  <a:srgbClr val="64748B"/>
                </a:solidFill>
              </a:rPr>
              <a:t>(rs123456): </a:t>
            </a:r>
            <a:r>
              <a:rPr lang="en-US" sz="900" dirty="0">
                <a:solidFill>
                  <a:srgbClr val="64748B"/>
                </a:solidFill>
              </a:rPr>
              <a:t>monomorphic (excluded)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DESCRIPTIVES</a:t>
            </a:r>
            <a:endParaRPr lang="en-US" sz="750" dirty="0"/>
          </a:p>
        </p:txBody>
      </p:sp>
      <p:sp>
        <p:nvSpPr>
          <p:cNvPr id="4" name="Text 2"/>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Table 1 — Key Variables Stratified by Treatment</a:t>
            </a:r>
            <a:endParaRPr lang="en-US" sz="2200" dirty="0"/>
          </a:p>
        </p:txBody>
      </p:sp>
      <p:sp>
        <p:nvSpPr>
          <p:cNvPr id="5" name="Shape 3"/>
          <p:cNvSpPr/>
          <p:nvPr/>
        </p:nvSpPr>
        <p:spPr>
          <a:xfrm>
            <a:off x="365760" y="1078992"/>
            <a:ext cx="8412480" cy="0"/>
          </a:xfrm>
          <a:prstGeom prst="line">
            <a:avLst/>
          </a:prstGeom>
          <a:noFill/>
          <a:ln w="12700">
            <a:solidFill>
              <a:srgbClr val="DDE3EA"/>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2030488464"/>
              </p:ext>
            </p:extLst>
          </p:nvPr>
        </p:nvGraphicFramePr>
        <p:xfrm>
          <a:off x="320040" y="1170432"/>
          <a:ext cx="8174806" cy="3282699"/>
        </p:xfrm>
        <a:graphic>
          <a:graphicData uri="http://schemas.openxmlformats.org/drawingml/2006/table">
            <a:tbl>
              <a:tblPr/>
              <a:tblGrid>
                <a:gridCol w="795528">
                  <a:extLst>
                    <a:ext uri="{9D8B030D-6E8A-4147-A177-3AD203B41FA5}">
                      <a16:colId xmlns:a16="http://schemas.microsoft.com/office/drawing/2014/main" val="20000"/>
                    </a:ext>
                  </a:extLst>
                </a:gridCol>
                <a:gridCol w="795528">
                  <a:extLst>
                    <a:ext uri="{9D8B030D-6E8A-4147-A177-3AD203B41FA5}">
                      <a16:colId xmlns:a16="http://schemas.microsoft.com/office/drawing/2014/main" val="3533858689"/>
                    </a:ext>
                  </a:extLst>
                </a:gridCol>
                <a:gridCol w="1316750">
                  <a:extLst>
                    <a:ext uri="{9D8B030D-6E8A-4147-A177-3AD203B41FA5}">
                      <a16:colId xmlns:a16="http://schemas.microsoft.com/office/drawing/2014/main" val="20001"/>
                    </a:ext>
                  </a:extLst>
                </a:gridCol>
                <a:gridCol w="1316750">
                  <a:extLst>
                    <a:ext uri="{9D8B030D-6E8A-4147-A177-3AD203B41FA5}">
                      <a16:colId xmlns:a16="http://schemas.microsoft.com/office/drawing/2014/main" val="20002"/>
                    </a:ext>
                  </a:extLst>
                </a:gridCol>
                <a:gridCol w="1316750">
                  <a:extLst>
                    <a:ext uri="{9D8B030D-6E8A-4147-A177-3AD203B41FA5}">
                      <a16:colId xmlns:a16="http://schemas.microsoft.com/office/drawing/2014/main" val="20003"/>
                    </a:ext>
                  </a:extLst>
                </a:gridCol>
                <a:gridCol w="1316750">
                  <a:extLst>
                    <a:ext uri="{9D8B030D-6E8A-4147-A177-3AD203B41FA5}">
                      <a16:colId xmlns:a16="http://schemas.microsoft.com/office/drawing/2014/main" val="20004"/>
                    </a:ext>
                  </a:extLst>
                </a:gridCol>
                <a:gridCol w="1316750">
                  <a:extLst>
                    <a:ext uri="{9D8B030D-6E8A-4147-A177-3AD203B41FA5}">
                      <a16:colId xmlns:a16="http://schemas.microsoft.com/office/drawing/2014/main" val="20005"/>
                    </a:ext>
                  </a:extLst>
                </a:gridCol>
              </a:tblGrid>
              <a:tr h="468957">
                <a:tc gridSpan="2">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B4B"/>
                    </a:solidFill>
                  </a:tcPr>
                </a:tc>
                <a:tc hMerge="1">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B4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Overall (n=100)</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B4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 Group A (n=32)</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0D7680"/>
                    </a:solidFill>
                  </a:tcPr>
                </a:tc>
                <a:tc>
                  <a:txBody>
                    <a:bodyPr/>
                    <a:lstStyle/>
                    <a:p>
                      <a:pPr marL="0" indent="0" algn="ctr">
                        <a:buNone/>
                      </a:pPr>
                      <a:r>
                        <a:rPr lang="en-US" sz="1100" b="1" dirty="0">
                          <a:solidFill>
                            <a:srgbClr val="1B2B4B"/>
                          </a:solidFill>
                          <a:latin typeface="Calibri" pitchFamily="34" charset="0"/>
                          <a:ea typeface="Calibri" pitchFamily="34" charset="-122"/>
                          <a:cs typeface="Calibri" pitchFamily="34" charset="-120"/>
                        </a:rPr>
                        <a:t>Group B (n=29)</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8A83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Group C (n=39)</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A0603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p-value</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B4B"/>
                    </a:solidFill>
                  </a:tcPr>
                </a:tc>
                <a:extLst>
                  <a:ext uri="{0D108BD9-81ED-4DB2-BD59-A6C34878D82A}">
                    <a16:rowId xmlns:a16="http://schemas.microsoft.com/office/drawing/2014/main" val="10000"/>
                  </a:ext>
                </a:extLst>
              </a:tr>
              <a:tr h="468957">
                <a:tc gridSpan="2">
                  <a:txBody>
                    <a:bodyPr/>
                    <a:lstStyle/>
                    <a:p>
                      <a:pPr marL="0" indent="0">
                        <a:buNone/>
                      </a:pPr>
                      <a:r>
                        <a:rPr lang="en-US" sz="1100" dirty="0">
                          <a:solidFill>
                            <a:srgbClr val="000000"/>
                          </a:solidFill>
                          <a:latin typeface="Calibri" pitchFamily="34" charset="0"/>
                          <a:ea typeface="Calibri" pitchFamily="34" charset="-122"/>
                          <a:cs typeface="Calibri" pitchFamily="34" charset="-120"/>
                        </a:rPr>
                        <a:t>Age, mean (SD)</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hMerge="1">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34.2 (6.2)</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3</a:t>
                      </a:r>
                      <a:r>
                        <a:rPr lang="en-US" altLang="zh-CN" sz="1100" dirty="0">
                          <a:solidFill>
                            <a:srgbClr val="000000"/>
                          </a:solidFill>
                          <a:latin typeface="Calibri" pitchFamily="34" charset="0"/>
                          <a:ea typeface="Calibri" pitchFamily="34" charset="-122"/>
                          <a:cs typeface="Calibri" pitchFamily="34" charset="-120"/>
                        </a:rPr>
                        <a:t>4.3</a:t>
                      </a:r>
                      <a:r>
                        <a:rPr lang="en-US" sz="1100" dirty="0">
                          <a:solidFill>
                            <a:srgbClr val="000000"/>
                          </a:solidFill>
                          <a:latin typeface="Calibri" pitchFamily="34" charset="0"/>
                          <a:ea typeface="Calibri" pitchFamily="34" charset="-122"/>
                          <a:cs typeface="Calibri" pitchFamily="34" charset="-120"/>
                        </a:rPr>
                        <a:t> (6.1)</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36.3 (</a:t>
                      </a:r>
                      <a:r>
                        <a:rPr lang="en-US" altLang="zh-CN" sz="1100" dirty="0">
                          <a:solidFill>
                            <a:srgbClr val="000000"/>
                          </a:solidFill>
                          <a:latin typeface="Calibri" pitchFamily="34" charset="0"/>
                          <a:ea typeface="Calibri" pitchFamily="34" charset="-122"/>
                          <a:cs typeface="Calibri" pitchFamily="34" charset="-120"/>
                        </a:rPr>
                        <a:t>5.7</a:t>
                      </a:r>
                      <a:r>
                        <a:rPr lang="en-US" sz="1100" dirty="0">
                          <a:solidFill>
                            <a:srgbClr val="00000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3</a:t>
                      </a:r>
                      <a:r>
                        <a:rPr lang="en-US" altLang="zh-CN" sz="1100" dirty="0">
                          <a:solidFill>
                            <a:srgbClr val="000000"/>
                          </a:solidFill>
                          <a:latin typeface="Calibri" pitchFamily="34" charset="0"/>
                          <a:ea typeface="Calibri" pitchFamily="34" charset="-122"/>
                          <a:cs typeface="Calibri" pitchFamily="34" charset="-120"/>
                        </a:rPr>
                        <a:t>2.4</a:t>
                      </a:r>
                      <a:r>
                        <a:rPr lang="en-US" sz="1100" dirty="0">
                          <a:solidFill>
                            <a:srgbClr val="000000"/>
                          </a:solidFill>
                          <a:latin typeface="Calibri" pitchFamily="34" charset="0"/>
                          <a:ea typeface="Calibri" pitchFamily="34" charset="-122"/>
                          <a:cs typeface="Calibri" pitchFamily="34" charset="-120"/>
                        </a:rPr>
                        <a:t> (6.</a:t>
                      </a:r>
                      <a:r>
                        <a:rPr lang="en-US" altLang="zh-CN" sz="1100" dirty="0">
                          <a:solidFill>
                            <a:srgbClr val="000000"/>
                          </a:solidFill>
                          <a:latin typeface="Calibri" pitchFamily="34" charset="0"/>
                          <a:ea typeface="Calibri" pitchFamily="34" charset="-122"/>
                          <a:cs typeface="Calibri" pitchFamily="34" charset="-120"/>
                        </a:rPr>
                        <a:t>3</a:t>
                      </a:r>
                      <a:r>
                        <a:rPr lang="en-US" sz="1100" dirty="0">
                          <a:solidFill>
                            <a:srgbClr val="00000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0.040*</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extLst>
                  <a:ext uri="{0D108BD9-81ED-4DB2-BD59-A6C34878D82A}">
                    <a16:rowId xmlns:a16="http://schemas.microsoft.com/office/drawing/2014/main" val="10001"/>
                  </a:ext>
                </a:extLst>
              </a:tr>
              <a:tr h="468957">
                <a:tc rowSpan="2">
                  <a:txBody>
                    <a:bodyPr/>
                    <a:lstStyle/>
                    <a:p>
                      <a:pPr marL="0" indent="0">
                        <a:buNone/>
                      </a:pPr>
                      <a:r>
                        <a:rPr lang="en-US" sz="1100" dirty="0">
                          <a:solidFill>
                            <a:srgbClr val="000000"/>
                          </a:solidFill>
                          <a:latin typeface="Calibri" pitchFamily="34" charset="0"/>
                          <a:ea typeface="Calibri" pitchFamily="34" charset="-122"/>
                          <a:cs typeface="Calibri" pitchFamily="34" charset="-120"/>
                        </a:rPr>
                        <a:t>Sex, n (%)</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Female</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51 (51%)</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15 (46.9%)</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17 (58.6%)</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19 (48.7%)</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rowSpan="2">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0.615</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468957">
                <a:tc vMerge="1">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Male</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latin typeface="Calibri" charset="0"/>
                          <a:ea typeface="Calibri" charset="0"/>
                          <a:cs typeface="Calibri" charset="0"/>
                        </a:rPr>
                        <a:t>49 (49%)</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latin typeface="Calibri" charset="0"/>
                          <a:ea typeface="Calibri" charset="0"/>
                          <a:cs typeface="Calibri" charset="0"/>
                        </a:rPr>
                        <a:t>17 (53.1%)</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latin typeface="Calibri" charset="0"/>
                          <a:ea typeface="Calibri" charset="0"/>
                          <a:cs typeface="Calibri" charset="0"/>
                        </a:rPr>
                        <a:t>12 (41.4%)</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latin typeface="Calibri" charset="0"/>
                          <a:ea typeface="Calibri" charset="0"/>
                          <a:cs typeface="Calibri" charset="0"/>
                        </a:rPr>
                        <a:t>20 (51.3%)</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vMerge="1">
                  <a:txBody>
                    <a:bodyPr/>
                    <a:lstStyle/>
                    <a:p>
                      <a:pPr marL="0" indent="0" algn="ctr">
                        <a:buNone/>
                      </a:pP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851624462"/>
                  </a:ext>
                </a:extLst>
              </a:tr>
              <a:tr h="468957">
                <a:tc gridSpan="2">
                  <a:txBody>
                    <a:bodyPr/>
                    <a:lstStyle/>
                    <a:p>
                      <a:pPr marL="0" indent="0">
                        <a:buNone/>
                      </a:pPr>
                      <a:r>
                        <a:rPr lang="en-US" sz="1100" dirty="0">
                          <a:solidFill>
                            <a:srgbClr val="000000"/>
                          </a:solidFill>
                          <a:latin typeface="Calibri" pitchFamily="34" charset="0"/>
                          <a:ea typeface="Calibri" pitchFamily="34" charset="-122"/>
                          <a:cs typeface="Calibri" pitchFamily="34" charset="-120"/>
                        </a:rPr>
                        <a:t>AF, mean (SD)</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hMerge="1">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61.3 (19.8)</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b="1" dirty="0">
                          <a:solidFill>
                            <a:srgbClr val="0D7680"/>
                          </a:solidFill>
                          <a:latin typeface="Calibri" pitchFamily="34" charset="0"/>
                          <a:ea typeface="Calibri" pitchFamily="34" charset="-122"/>
                          <a:cs typeface="Calibri" pitchFamily="34" charset="-120"/>
                        </a:rPr>
                        <a:t>37.5 (6.4)</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b="1" dirty="0">
                          <a:solidFill>
                            <a:srgbClr val="C07000"/>
                          </a:solidFill>
                          <a:latin typeface="Calibri" pitchFamily="34" charset="0"/>
                          <a:ea typeface="Calibri" pitchFamily="34" charset="-122"/>
                          <a:cs typeface="Calibri" pitchFamily="34" charset="-120"/>
                        </a:rPr>
                        <a:t>76.9 (11.2)</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b="1" dirty="0">
                          <a:solidFill>
                            <a:srgbClr val="A06030"/>
                          </a:solidFill>
                          <a:latin typeface="Calibri" pitchFamily="34" charset="0"/>
                          <a:ea typeface="Calibri" pitchFamily="34" charset="-122"/>
                          <a:cs typeface="Calibri" pitchFamily="34" charset="-120"/>
                        </a:rPr>
                        <a:t>69.2 (13.0)</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marL="0" indent="0" algn="ctr">
                        <a:buNone/>
                      </a:pPr>
                      <a:r>
                        <a:rPr lang="en-US" sz="1100" b="1" dirty="0">
                          <a:solidFill>
                            <a:srgbClr val="C0392B"/>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extLst>
                  <a:ext uri="{0D108BD9-81ED-4DB2-BD59-A6C34878D82A}">
                    <a16:rowId xmlns:a16="http://schemas.microsoft.com/office/drawing/2014/main" val="10003"/>
                  </a:ext>
                </a:extLst>
              </a:tr>
              <a:tr h="468957">
                <a:tc rowSpan="2">
                  <a:txBody>
                    <a:bodyPr/>
                    <a:lstStyle/>
                    <a:p>
                      <a:pPr marL="0" indent="0">
                        <a:buNone/>
                      </a:pPr>
                      <a:r>
                        <a:rPr lang="en-US" sz="1100" dirty="0">
                          <a:solidFill>
                            <a:srgbClr val="000000"/>
                          </a:solidFill>
                          <a:latin typeface="Calibri" pitchFamily="34" charset="0"/>
                          <a:ea typeface="Calibri" pitchFamily="34" charset="-122"/>
                          <a:cs typeface="Calibri" pitchFamily="34" charset="-120"/>
                        </a:rPr>
                        <a:t>PR, n (%)</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Yes</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51 (51%)</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17 (53.1%)</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19 (65.5%)</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15 (38.5%)</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rowSpan="2">
                  <a:txBody>
                    <a:bodyPr/>
                    <a:lstStyle/>
                    <a:p>
                      <a:pPr marL="0" indent="0" algn="ctr">
                        <a:buNone/>
                      </a:pPr>
                      <a:r>
                        <a:rPr lang="en-US" sz="1100" dirty="0">
                          <a:solidFill>
                            <a:srgbClr val="000000"/>
                          </a:solidFill>
                          <a:latin typeface="Calibri" pitchFamily="34" charset="0"/>
                          <a:ea typeface="Calibri" pitchFamily="34" charset="-122"/>
                          <a:cs typeface="Calibri" pitchFamily="34" charset="-120"/>
                        </a:rPr>
                        <a:t>0.084</a:t>
                      </a: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4"/>
                  </a:ext>
                </a:extLst>
              </a:tr>
              <a:tr h="468957">
                <a:tc vMerge="1">
                  <a:txBody>
                    <a:bodyPr/>
                    <a:lstStyle/>
                    <a:p>
                      <a:pPr marL="0" indent="0">
                        <a:buNone/>
                      </a:pP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100" dirty="0">
                          <a:latin typeface="Calibri" charset="0"/>
                          <a:ea typeface="Calibri" charset="0"/>
                          <a:cs typeface="Calibri" charset="0"/>
                        </a:rPr>
                        <a:t>No</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latin typeface="Calibri" charset="0"/>
                          <a:ea typeface="Calibri" charset="0"/>
                          <a:cs typeface="Calibri" charset="0"/>
                        </a:rPr>
                        <a:t>49 (49%)</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latin typeface="Calibri" charset="0"/>
                          <a:ea typeface="Calibri" charset="0"/>
                          <a:cs typeface="Calibri" charset="0"/>
                        </a:rPr>
                        <a:t>15 (46.9%)</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latin typeface="Calibri" charset="0"/>
                          <a:ea typeface="Calibri" charset="0"/>
                          <a:cs typeface="Calibri" charset="0"/>
                        </a:rPr>
                        <a:t>10 (34.5%)</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lgn="ctr">
                        <a:buNone/>
                      </a:pPr>
                      <a:r>
                        <a:rPr lang="en-US" sz="1100" dirty="0">
                          <a:latin typeface="Calibri" charset="0"/>
                          <a:ea typeface="Calibri" charset="0"/>
                          <a:cs typeface="Calibri" charset="0"/>
                        </a:rPr>
                        <a:t>24 (61.5%)</a:t>
                      </a: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vMerge="1">
                  <a:txBody>
                    <a:bodyPr/>
                    <a:lstStyle/>
                    <a:p>
                      <a:pPr marL="0" indent="0" algn="ctr">
                        <a:buNone/>
                      </a:pPr>
                      <a:endParaRPr lang="en-US" sz="1100" dirty="0">
                        <a:latin typeface="Calibri" charset="0"/>
                        <a:ea typeface="Calibri" charset="0"/>
                        <a:cs typeface="Calibri" charset="0"/>
                      </a:endParaRPr>
                    </a:p>
                  </a:txBody>
                  <a:tcPr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4279861447"/>
                  </a:ext>
                </a:extLst>
              </a:tr>
            </a:tbl>
          </a:graphicData>
        </a:graphic>
      </p:graphicFrame>
      <p:sp>
        <p:nvSpPr>
          <p:cNvPr id="7" name="Text 4"/>
          <p:cNvSpPr/>
          <p:nvPr/>
        </p:nvSpPr>
        <p:spPr>
          <a:xfrm>
            <a:off x="320040" y="4526280"/>
            <a:ext cx="8503920" cy="274320"/>
          </a:xfrm>
          <a:prstGeom prst="rect">
            <a:avLst/>
          </a:prstGeom>
          <a:noFill/>
          <a:ln/>
        </p:spPr>
        <p:txBody>
          <a:bodyPr wrap="square" rtlCol="0" anchor="ctr"/>
          <a:lstStyle/>
          <a:p>
            <a:pPr marL="0" indent="0">
              <a:buNone/>
            </a:pPr>
            <a:r>
              <a:rPr lang="en-US" sz="850" i="1" dirty="0">
                <a:solidFill>
                  <a:srgbClr val="64748B"/>
                </a:solidFill>
              </a:rPr>
              <a:t>* p &lt; 0.05   *** p &lt; 0.001  (ANOVA test for continuous</a:t>
            </a:r>
            <a:r>
              <a:rPr lang="zh-CN" altLang="en-US" sz="850" i="1" dirty="0">
                <a:solidFill>
                  <a:srgbClr val="64748B"/>
                </a:solidFill>
              </a:rPr>
              <a:t> </a:t>
            </a:r>
            <a:r>
              <a:rPr lang="en-US" altLang="zh-CN" sz="850" i="1" dirty="0">
                <a:solidFill>
                  <a:srgbClr val="64748B"/>
                </a:solidFill>
              </a:rPr>
              <a:t>variables</a:t>
            </a:r>
            <a:r>
              <a:rPr lang="en-US" sz="850" i="1" dirty="0">
                <a:solidFill>
                  <a:srgbClr val="64748B"/>
                </a:solidFill>
              </a:rPr>
              <a:t>; χ² test</a:t>
            </a:r>
            <a:r>
              <a:rPr lang="zh-CN" altLang="en-US" sz="850" i="1" dirty="0">
                <a:solidFill>
                  <a:srgbClr val="64748B"/>
                </a:solidFill>
              </a:rPr>
              <a:t> </a:t>
            </a:r>
            <a:r>
              <a:rPr lang="en-US" sz="850" i="1" dirty="0">
                <a:solidFill>
                  <a:srgbClr val="64748B"/>
                </a:solidFill>
              </a:rPr>
              <a:t>for categorical</a:t>
            </a:r>
            <a:r>
              <a:rPr lang="zh-CN" altLang="en-US" sz="850" i="1" dirty="0">
                <a:solidFill>
                  <a:srgbClr val="64748B"/>
                </a:solidFill>
              </a:rPr>
              <a:t> </a:t>
            </a:r>
            <a:r>
              <a:rPr lang="en-US" altLang="zh-CN" sz="850" i="1" dirty="0">
                <a:solidFill>
                  <a:srgbClr val="64748B"/>
                </a:solidFill>
              </a:rPr>
              <a:t>data</a:t>
            </a:r>
            <a:r>
              <a:rPr lang="en-US" sz="850" i="1" dirty="0">
                <a:solidFill>
                  <a:srgbClr val="64748B"/>
                </a:solidFill>
              </a:rPr>
              <a: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PRIMARY OUTCOME</a:t>
            </a:r>
            <a:endParaRPr lang="en-US" sz="750" dirty="0"/>
          </a:p>
        </p:txBody>
      </p:sp>
      <p:sp>
        <p:nvSpPr>
          <p:cNvPr id="4" name="Text 2"/>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Effect</a:t>
            </a:r>
            <a:r>
              <a:rPr lang="zh-CN" altLang="en-US" sz="2200" b="1" dirty="0">
                <a:solidFill>
                  <a:srgbClr val="1B2B4B"/>
                </a:solidFill>
                <a:latin typeface="Cambria" pitchFamily="34" charset="0"/>
                <a:ea typeface="Cambria" pitchFamily="34" charset="-122"/>
                <a:cs typeface="Cambria" pitchFamily="34" charset="-120"/>
              </a:rPr>
              <a:t> </a:t>
            </a:r>
            <a:r>
              <a:rPr lang="en-US" altLang="zh-CN" sz="2200" b="1" dirty="0">
                <a:solidFill>
                  <a:srgbClr val="1B2B4B"/>
                </a:solidFill>
                <a:latin typeface="Cambria" pitchFamily="34" charset="0"/>
                <a:ea typeface="Cambria" pitchFamily="34" charset="-122"/>
                <a:cs typeface="Cambria" pitchFamily="34" charset="-120"/>
              </a:rPr>
              <a:t>of</a:t>
            </a:r>
            <a:r>
              <a:rPr lang="en-US" sz="2200" b="1" dirty="0">
                <a:solidFill>
                  <a:srgbClr val="1B2B4B"/>
                </a:solidFill>
                <a:latin typeface="Cambria" pitchFamily="34" charset="0"/>
                <a:ea typeface="Cambria" pitchFamily="34" charset="-122"/>
                <a:cs typeface="Cambria" pitchFamily="34" charset="-120"/>
              </a:rPr>
              <a:t> Treatment Group</a:t>
            </a:r>
            <a:r>
              <a:rPr lang="zh-CN" altLang="en-US" sz="2200" b="1" dirty="0">
                <a:solidFill>
                  <a:srgbClr val="1B2B4B"/>
                </a:solidFill>
                <a:latin typeface="Cambria" pitchFamily="34" charset="0"/>
                <a:ea typeface="Cambria" pitchFamily="34" charset="-122"/>
                <a:cs typeface="Cambria" pitchFamily="34" charset="-120"/>
              </a:rPr>
              <a:t> </a:t>
            </a:r>
            <a:r>
              <a:rPr lang="en-US" altLang="zh-CN" sz="2200" b="1" dirty="0">
                <a:solidFill>
                  <a:srgbClr val="1B2B4B"/>
                </a:solidFill>
                <a:latin typeface="Cambria" pitchFamily="34" charset="0"/>
                <a:ea typeface="Cambria" pitchFamily="34" charset="-122"/>
                <a:cs typeface="Cambria" pitchFamily="34" charset="-120"/>
              </a:rPr>
              <a:t>on</a:t>
            </a:r>
            <a:r>
              <a:rPr lang="zh-CN" altLang="en-US" sz="2200" b="1" dirty="0">
                <a:solidFill>
                  <a:srgbClr val="1B2B4B"/>
                </a:solidFill>
                <a:latin typeface="Cambria" pitchFamily="34" charset="0"/>
                <a:ea typeface="Cambria" pitchFamily="34" charset="-122"/>
                <a:cs typeface="Cambria" pitchFamily="34" charset="-120"/>
              </a:rPr>
              <a:t> </a:t>
            </a:r>
            <a:r>
              <a:rPr lang="en-US" altLang="zh-CN" sz="2200" b="1" dirty="0">
                <a:solidFill>
                  <a:srgbClr val="1B2B4B"/>
                </a:solidFill>
                <a:latin typeface="Cambria" pitchFamily="34" charset="0"/>
                <a:ea typeface="Cambria" pitchFamily="34" charset="-122"/>
                <a:cs typeface="Cambria" pitchFamily="34" charset="-120"/>
              </a:rPr>
              <a:t>AF</a:t>
            </a:r>
            <a:endParaRPr lang="en-US" sz="2200" dirty="0"/>
          </a:p>
        </p:txBody>
      </p:sp>
      <p:sp>
        <p:nvSpPr>
          <p:cNvPr id="5" name="Shape 3"/>
          <p:cNvSpPr/>
          <p:nvPr/>
        </p:nvSpPr>
        <p:spPr>
          <a:xfrm>
            <a:off x="365760" y="1078992"/>
            <a:ext cx="8412480" cy="0"/>
          </a:xfrm>
          <a:prstGeom prst="line">
            <a:avLst/>
          </a:prstGeom>
          <a:noFill/>
          <a:ln w="12700">
            <a:solidFill>
              <a:srgbClr val="DDE3EA"/>
            </a:solidFill>
            <a:prstDash val="solid"/>
          </a:ln>
        </p:spPr>
        <p:txBody>
          <a:bodyPr/>
          <a:lstStyle/>
          <a:p>
            <a:endParaRPr lang="en-US"/>
          </a:p>
        </p:txBody>
      </p:sp>
      <p:sp>
        <p:nvSpPr>
          <p:cNvPr id="7" name="Shape 4"/>
          <p:cNvSpPr/>
          <p:nvPr/>
        </p:nvSpPr>
        <p:spPr>
          <a:xfrm>
            <a:off x="6120515" y="1234440"/>
            <a:ext cx="2743200" cy="100584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8" name="Shape 5"/>
          <p:cNvSpPr/>
          <p:nvPr/>
        </p:nvSpPr>
        <p:spPr>
          <a:xfrm>
            <a:off x="6120515" y="1234440"/>
            <a:ext cx="64008" cy="1005840"/>
          </a:xfrm>
          <a:prstGeom prst="rect">
            <a:avLst/>
          </a:prstGeom>
          <a:solidFill>
            <a:srgbClr val="0D7680"/>
          </a:solidFill>
          <a:ln w="12700">
            <a:solidFill>
              <a:srgbClr val="0D7680"/>
            </a:solidFill>
            <a:prstDash val="solid"/>
          </a:ln>
        </p:spPr>
        <p:txBody>
          <a:bodyPr/>
          <a:lstStyle/>
          <a:p>
            <a:endParaRPr lang="en-US"/>
          </a:p>
        </p:txBody>
      </p:sp>
      <p:sp>
        <p:nvSpPr>
          <p:cNvPr id="9" name="Text 6"/>
          <p:cNvSpPr/>
          <p:nvPr/>
        </p:nvSpPr>
        <p:spPr>
          <a:xfrm>
            <a:off x="6257675" y="1289304"/>
            <a:ext cx="2468880" cy="228600"/>
          </a:xfrm>
          <a:prstGeom prst="rect">
            <a:avLst/>
          </a:prstGeom>
          <a:noFill/>
          <a:ln/>
        </p:spPr>
        <p:txBody>
          <a:bodyPr wrap="square" rtlCol="0" anchor="ctr"/>
          <a:lstStyle/>
          <a:p>
            <a:pPr marL="0" indent="0">
              <a:buNone/>
            </a:pPr>
            <a:r>
              <a:rPr lang="en-US" sz="1000" b="1" dirty="0">
                <a:solidFill>
                  <a:srgbClr val="1B2B4B"/>
                </a:solidFill>
              </a:rPr>
              <a:t>Treatment A  (n=32)</a:t>
            </a:r>
            <a:endParaRPr lang="en-US" sz="1000" dirty="0"/>
          </a:p>
        </p:txBody>
      </p:sp>
      <p:sp>
        <p:nvSpPr>
          <p:cNvPr id="10" name="Text 7"/>
          <p:cNvSpPr/>
          <p:nvPr/>
        </p:nvSpPr>
        <p:spPr>
          <a:xfrm>
            <a:off x="6257675" y="1545336"/>
            <a:ext cx="2468880" cy="201168"/>
          </a:xfrm>
          <a:prstGeom prst="rect">
            <a:avLst/>
          </a:prstGeom>
          <a:noFill/>
          <a:ln/>
        </p:spPr>
        <p:txBody>
          <a:bodyPr wrap="square" rtlCol="0" anchor="ctr"/>
          <a:lstStyle/>
          <a:p>
            <a:pPr marL="0" indent="0">
              <a:buNone/>
            </a:pPr>
            <a:r>
              <a:rPr lang="en-US" sz="950" dirty="0">
                <a:solidFill>
                  <a:srgbClr val="64748B"/>
                </a:solidFill>
              </a:rPr>
              <a:t>Mean AF: </a:t>
            </a:r>
            <a:r>
              <a:rPr lang="en-US" sz="950" b="1" dirty="0">
                <a:solidFill>
                  <a:srgbClr val="0D7680"/>
                </a:solidFill>
              </a:rPr>
              <a:t>37.5 ±6.4</a:t>
            </a:r>
            <a:r>
              <a:rPr lang="en-US" sz="950" dirty="0">
                <a:solidFill>
                  <a:srgbClr val="64748B"/>
                </a:solidFill>
              </a:rPr>
              <a:t>   Median: 36.4</a:t>
            </a:r>
            <a:endParaRPr lang="en-US" sz="950" dirty="0"/>
          </a:p>
        </p:txBody>
      </p:sp>
      <p:sp>
        <p:nvSpPr>
          <p:cNvPr id="11" name="Text 8"/>
          <p:cNvSpPr/>
          <p:nvPr/>
        </p:nvSpPr>
        <p:spPr>
          <a:xfrm>
            <a:off x="6257675" y="1764792"/>
            <a:ext cx="2468880" cy="201168"/>
          </a:xfrm>
          <a:prstGeom prst="rect">
            <a:avLst/>
          </a:prstGeom>
          <a:noFill/>
          <a:ln/>
        </p:spPr>
        <p:txBody>
          <a:bodyPr wrap="square" rtlCol="0" anchor="ctr"/>
          <a:lstStyle/>
          <a:p>
            <a:pPr marL="0" indent="0">
              <a:buNone/>
            </a:pPr>
            <a:r>
              <a:rPr lang="en-US" sz="950" dirty="0">
                <a:solidFill>
                  <a:srgbClr val="64748B"/>
                </a:solidFill>
              </a:rPr>
              <a:t>PR rate: 53%</a:t>
            </a:r>
            <a:endParaRPr lang="en-US" sz="950" dirty="0"/>
          </a:p>
        </p:txBody>
      </p:sp>
      <p:sp>
        <p:nvSpPr>
          <p:cNvPr id="12" name="Shape 9"/>
          <p:cNvSpPr/>
          <p:nvPr/>
        </p:nvSpPr>
        <p:spPr>
          <a:xfrm>
            <a:off x="6257675" y="1984248"/>
            <a:ext cx="2468880" cy="0"/>
          </a:xfrm>
          <a:prstGeom prst="line">
            <a:avLst/>
          </a:prstGeom>
          <a:noFill/>
          <a:ln w="12700">
            <a:solidFill>
              <a:srgbClr val="DDE3EA"/>
            </a:solidFill>
            <a:prstDash val="solid"/>
          </a:ln>
        </p:spPr>
        <p:txBody>
          <a:bodyPr/>
          <a:lstStyle/>
          <a:p>
            <a:endParaRPr lang="en-US"/>
          </a:p>
        </p:txBody>
      </p:sp>
      <p:sp>
        <p:nvSpPr>
          <p:cNvPr id="13" name="Text 10"/>
          <p:cNvSpPr/>
          <p:nvPr/>
        </p:nvSpPr>
        <p:spPr>
          <a:xfrm>
            <a:off x="6257675" y="2020824"/>
            <a:ext cx="2468880" cy="164592"/>
          </a:xfrm>
          <a:prstGeom prst="rect">
            <a:avLst/>
          </a:prstGeom>
          <a:noFill/>
          <a:ln/>
        </p:spPr>
        <p:txBody>
          <a:bodyPr wrap="square" rtlCol="0" anchor="ctr"/>
          <a:lstStyle/>
          <a:p>
            <a:pPr marL="0" indent="0">
              <a:buNone/>
            </a:pPr>
            <a:r>
              <a:rPr lang="en-US" sz="750" i="1" dirty="0">
                <a:solidFill>
                  <a:srgbClr val="C0392B"/>
                </a:solidFill>
              </a:rPr>
              <a:t>p &lt; 0.001 — strong treatment effect on AF</a:t>
            </a:r>
            <a:endParaRPr lang="en-US" sz="750" dirty="0"/>
          </a:p>
        </p:txBody>
      </p:sp>
      <p:sp>
        <p:nvSpPr>
          <p:cNvPr id="14" name="Shape 11"/>
          <p:cNvSpPr/>
          <p:nvPr/>
        </p:nvSpPr>
        <p:spPr>
          <a:xfrm>
            <a:off x="6120515" y="2377440"/>
            <a:ext cx="2743200" cy="100584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2"/>
          <p:cNvSpPr/>
          <p:nvPr/>
        </p:nvSpPr>
        <p:spPr>
          <a:xfrm>
            <a:off x="6120515" y="2377440"/>
            <a:ext cx="64008" cy="1005840"/>
          </a:xfrm>
          <a:prstGeom prst="rect">
            <a:avLst/>
          </a:prstGeom>
          <a:solidFill>
            <a:srgbClr val="E8A838"/>
          </a:solidFill>
          <a:ln w="12700">
            <a:solidFill>
              <a:srgbClr val="E8A838"/>
            </a:solidFill>
            <a:prstDash val="solid"/>
          </a:ln>
        </p:spPr>
        <p:txBody>
          <a:bodyPr/>
          <a:lstStyle/>
          <a:p>
            <a:endParaRPr lang="en-US"/>
          </a:p>
        </p:txBody>
      </p:sp>
      <p:sp>
        <p:nvSpPr>
          <p:cNvPr id="16" name="Text 13"/>
          <p:cNvSpPr/>
          <p:nvPr/>
        </p:nvSpPr>
        <p:spPr>
          <a:xfrm>
            <a:off x="6257675" y="2432304"/>
            <a:ext cx="2468880" cy="228600"/>
          </a:xfrm>
          <a:prstGeom prst="rect">
            <a:avLst/>
          </a:prstGeom>
          <a:noFill/>
          <a:ln/>
        </p:spPr>
        <p:txBody>
          <a:bodyPr wrap="square" rtlCol="0" anchor="ctr"/>
          <a:lstStyle/>
          <a:p>
            <a:pPr marL="0" indent="0">
              <a:buNone/>
            </a:pPr>
            <a:r>
              <a:rPr lang="en-US" sz="1000" b="1" dirty="0">
                <a:solidFill>
                  <a:srgbClr val="1B2B4B"/>
                </a:solidFill>
              </a:rPr>
              <a:t>Treatment B  (n=29)</a:t>
            </a:r>
            <a:endParaRPr lang="en-US" sz="1000" dirty="0"/>
          </a:p>
        </p:txBody>
      </p:sp>
      <p:sp>
        <p:nvSpPr>
          <p:cNvPr id="17" name="Text 14"/>
          <p:cNvSpPr/>
          <p:nvPr/>
        </p:nvSpPr>
        <p:spPr>
          <a:xfrm>
            <a:off x="6257675" y="2688336"/>
            <a:ext cx="2468880" cy="201168"/>
          </a:xfrm>
          <a:prstGeom prst="rect">
            <a:avLst/>
          </a:prstGeom>
          <a:noFill/>
          <a:ln/>
        </p:spPr>
        <p:txBody>
          <a:bodyPr wrap="square" rtlCol="0" anchor="ctr"/>
          <a:lstStyle/>
          <a:p>
            <a:pPr marL="0" indent="0">
              <a:buNone/>
            </a:pPr>
            <a:r>
              <a:rPr lang="en-US" sz="950" dirty="0">
                <a:solidFill>
                  <a:srgbClr val="64748B"/>
                </a:solidFill>
              </a:rPr>
              <a:t>Mean AF: </a:t>
            </a:r>
            <a:r>
              <a:rPr lang="en-US" sz="950" b="1" dirty="0">
                <a:solidFill>
                  <a:srgbClr val="E8A838"/>
                </a:solidFill>
              </a:rPr>
              <a:t>76.9 ±11.2</a:t>
            </a:r>
            <a:r>
              <a:rPr lang="en-US" sz="950" dirty="0">
                <a:solidFill>
                  <a:srgbClr val="64748B"/>
                </a:solidFill>
              </a:rPr>
              <a:t>   Median: 77.8</a:t>
            </a:r>
            <a:endParaRPr lang="en-US" sz="950" dirty="0"/>
          </a:p>
        </p:txBody>
      </p:sp>
      <p:sp>
        <p:nvSpPr>
          <p:cNvPr id="18" name="Text 15"/>
          <p:cNvSpPr/>
          <p:nvPr/>
        </p:nvSpPr>
        <p:spPr>
          <a:xfrm>
            <a:off x="6257675" y="2907792"/>
            <a:ext cx="2468880" cy="201168"/>
          </a:xfrm>
          <a:prstGeom prst="rect">
            <a:avLst/>
          </a:prstGeom>
          <a:noFill/>
          <a:ln/>
        </p:spPr>
        <p:txBody>
          <a:bodyPr wrap="square" rtlCol="0" anchor="ctr"/>
          <a:lstStyle/>
          <a:p>
            <a:pPr marL="0" indent="0">
              <a:buNone/>
            </a:pPr>
            <a:r>
              <a:rPr lang="en-US" sz="950" dirty="0">
                <a:solidFill>
                  <a:srgbClr val="64748B"/>
                </a:solidFill>
              </a:rPr>
              <a:t>PR rate: 66%</a:t>
            </a:r>
            <a:endParaRPr lang="en-US" sz="950" dirty="0"/>
          </a:p>
        </p:txBody>
      </p:sp>
      <p:sp>
        <p:nvSpPr>
          <p:cNvPr id="19" name="Shape 16"/>
          <p:cNvSpPr/>
          <p:nvPr/>
        </p:nvSpPr>
        <p:spPr>
          <a:xfrm>
            <a:off x="6257675" y="3127248"/>
            <a:ext cx="2468880" cy="0"/>
          </a:xfrm>
          <a:prstGeom prst="line">
            <a:avLst/>
          </a:prstGeom>
          <a:noFill/>
          <a:ln w="12700">
            <a:solidFill>
              <a:srgbClr val="DDE3EA"/>
            </a:solidFill>
            <a:prstDash val="solid"/>
          </a:ln>
        </p:spPr>
        <p:txBody>
          <a:bodyPr/>
          <a:lstStyle/>
          <a:p>
            <a:endParaRPr lang="en-US"/>
          </a:p>
        </p:txBody>
      </p:sp>
      <p:sp>
        <p:nvSpPr>
          <p:cNvPr id="20" name="Text 17"/>
          <p:cNvSpPr/>
          <p:nvPr/>
        </p:nvSpPr>
        <p:spPr>
          <a:xfrm>
            <a:off x="6257675" y="3163824"/>
            <a:ext cx="2468880" cy="164592"/>
          </a:xfrm>
          <a:prstGeom prst="rect">
            <a:avLst/>
          </a:prstGeom>
          <a:noFill/>
          <a:ln/>
        </p:spPr>
        <p:txBody>
          <a:bodyPr wrap="square" rtlCol="0" anchor="ctr"/>
          <a:lstStyle/>
          <a:p>
            <a:pPr marL="0" indent="0">
              <a:buNone/>
            </a:pPr>
            <a:r>
              <a:rPr lang="en-US" sz="750" i="1" dirty="0">
                <a:solidFill>
                  <a:srgbClr val="C0392B"/>
                </a:solidFill>
              </a:rPr>
              <a:t>p &lt; 0.001 — strong treatment effect on AF</a:t>
            </a:r>
            <a:endParaRPr lang="en-US" sz="750" dirty="0"/>
          </a:p>
        </p:txBody>
      </p:sp>
      <p:sp>
        <p:nvSpPr>
          <p:cNvPr id="21" name="Shape 18"/>
          <p:cNvSpPr/>
          <p:nvPr/>
        </p:nvSpPr>
        <p:spPr>
          <a:xfrm>
            <a:off x="6120515" y="3520440"/>
            <a:ext cx="2743200" cy="100584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22" name="Shape 19"/>
          <p:cNvSpPr/>
          <p:nvPr/>
        </p:nvSpPr>
        <p:spPr>
          <a:xfrm>
            <a:off x="6120515" y="3520440"/>
            <a:ext cx="64008" cy="1005840"/>
          </a:xfrm>
          <a:prstGeom prst="rect">
            <a:avLst/>
          </a:prstGeom>
          <a:solidFill>
            <a:srgbClr val="A06030"/>
          </a:solidFill>
          <a:ln w="12700">
            <a:solidFill>
              <a:srgbClr val="A06030"/>
            </a:solidFill>
            <a:prstDash val="solid"/>
          </a:ln>
        </p:spPr>
        <p:txBody>
          <a:bodyPr/>
          <a:lstStyle/>
          <a:p>
            <a:endParaRPr lang="en-US"/>
          </a:p>
        </p:txBody>
      </p:sp>
      <p:sp>
        <p:nvSpPr>
          <p:cNvPr id="23" name="Text 20"/>
          <p:cNvSpPr/>
          <p:nvPr/>
        </p:nvSpPr>
        <p:spPr>
          <a:xfrm>
            <a:off x="6257675" y="3575304"/>
            <a:ext cx="2468880" cy="228600"/>
          </a:xfrm>
          <a:prstGeom prst="rect">
            <a:avLst/>
          </a:prstGeom>
          <a:noFill/>
          <a:ln/>
        </p:spPr>
        <p:txBody>
          <a:bodyPr wrap="square" rtlCol="0" anchor="ctr"/>
          <a:lstStyle/>
          <a:p>
            <a:pPr marL="0" indent="0">
              <a:buNone/>
            </a:pPr>
            <a:r>
              <a:rPr lang="en-US" sz="1000" b="1" dirty="0">
                <a:solidFill>
                  <a:srgbClr val="1B2B4B"/>
                </a:solidFill>
              </a:rPr>
              <a:t>Treatment C  (n=39)</a:t>
            </a:r>
            <a:endParaRPr lang="en-US" sz="1000" dirty="0"/>
          </a:p>
        </p:txBody>
      </p:sp>
      <p:sp>
        <p:nvSpPr>
          <p:cNvPr id="24" name="Text 21"/>
          <p:cNvSpPr/>
          <p:nvPr/>
        </p:nvSpPr>
        <p:spPr>
          <a:xfrm>
            <a:off x="6257675" y="3831336"/>
            <a:ext cx="2468880" cy="201168"/>
          </a:xfrm>
          <a:prstGeom prst="rect">
            <a:avLst/>
          </a:prstGeom>
          <a:noFill/>
          <a:ln/>
        </p:spPr>
        <p:txBody>
          <a:bodyPr wrap="square" rtlCol="0" anchor="ctr"/>
          <a:lstStyle/>
          <a:p>
            <a:pPr marL="0" indent="0">
              <a:buNone/>
            </a:pPr>
            <a:r>
              <a:rPr lang="en-US" sz="950" dirty="0">
                <a:solidFill>
                  <a:srgbClr val="64748B"/>
                </a:solidFill>
              </a:rPr>
              <a:t>Mean AF: </a:t>
            </a:r>
            <a:r>
              <a:rPr lang="en-US" sz="950" b="1" dirty="0">
                <a:solidFill>
                  <a:srgbClr val="A06030"/>
                </a:solidFill>
              </a:rPr>
              <a:t>69.2 ±13.0</a:t>
            </a:r>
            <a:r>
              <a:rPr lang="en-US" sz="950" dirty="0">
                <a:solidFill>
                  <a:srgbClr val="64748B"/>
                </a:solidFill>
              </a:rPr>
              <a:t>   Median: 64.3</a:t>
            </a:r>
            <a:endParaRPr lang="en-US" sz="950" dirty="0"/>
          </a:p>
        </p:txBody>
      </p:sp>
      <p:sp>
        <p:nvSpPr>
          <p:cNvPr id="25" name="Text 22"/>
          <p:cNvSpPr/>
          <p:nvPr/>
        </p:nvSpPr>
        <p:spPr>
          <a:xfrm>
            <a:off x="6257675" y="4050792"/>
            <a:ext cx="2468880" cy="201168"/>
          </a:xfrm>
          <a:prstGeom prst="rect">
            <a:avLst/>
          </a:prstGeom>
          <a:noFill/>
          <a:ln/>
        </p:spPr>
        <p:txBody>
          <a:bodyPr wrap="square" rtlCol="0" anchor="ctr"/>
          <a:lstStyle/>
          <a:p>
            <a:pPr marL="0" indent="0">
              <a:buNone/>
            </a:pPr>
            <a:r>
              <a:rPr lang="en-US" sz="950" dirty="0">
                <a:solidFill>
                  <a:srgbClr val="64748B"/>
                </a:solidFill>
              </a:rPr>
              <a:t>PR rate: 3</a:t>
            </a:r>
            <a:r>
              <a:rPr lang="en-US" altLang="zh-CN" sz="950" dirty="0">
                <a:solidFill>
                  <a:srgbClr val="64748B"/>
                </a:solidFill>
              </a:rPr>
              <a:t>8</a:t>
            </a:r>
            <a:r>
              <a:rPr lang="en-US" sz="950" dirty="0">
                <a:solidFill>
                  <a:srgbClr val="64748B"/>
                </a:solidFill>
              </a:rPr>
              <a:t>%</a:t>
            </a:r>
            <a:endParaRPr lang="en-US" sz="950" dirty="0"/>
          </a:p>
        </p:txBody>
      </p:sp>
      <p:sp>
        <p:nvSpPr>
          <p:cNvPr id="26" name="Shape 23"/>
          <p:cNvSpPr/>
          <p:nvPr/>
        </p:nvSpPr>
        <p:spPr>
          <a:xfrm>
            <a:off x="6257675" y="4270248"/>
            <a:ext cx="2468880" cy="0"/>
          </a:xfrm>
          <a:prstGeom prst="line">
            <a:avLst/>
          </a:prstGeom>
          <a:noFill/>
          <a:ln w="12700">
            <a:solidFill>
              <a:srgbClr val="DDE3EA"/>
            </a:solidFill>
            <a:prstDash val="solid"/>
          </a:ln>
        </p:spPr>
        <p:txBody>
          <a:bodyPr/>
          <a:lstStyle/>
          <a:p>
            <a:endParaRPr lang="en-US"/>
          </a:p>
        </p:txBody>
      </p:sp>
      <p:sp>
        <p:nvSpPr>
          <p:cNvPr id="27" name="Text 24"/>
          <p:cNvSpPr/>
          <p:nvPr/>
        </p:nvSpPr>
        <p:spPr>
          <a:xfrm>
            <a:off x="6257675" y="4306824"/>
            <a:ext cx="2468880" cy="164592"/>
          </a:xfrm>
          <a:prstGeom prst="rect">
            <a:avLst/>
          </a:prstGeom>
          <a:noFill/>
          <a:ln/>
        </p:spPr>
        <p:txBody>
          <a:bodyPr wrap="square" rtlCol="0" anchor="ctr"/>
          <a:lstStyle/>
          <a:p>
            <a:pPr marL="0" indent="0">
              <a:buNone/>
            </a:pPr>
            <a:r>
              <a:rPr lang="en-US" sz="750" i="1" dirty="0">
                <a:solidFill>
                  <a:srgbClr val="C0392B"/>
                </a:solidFill>
              </a:rPr>
              <a:t>p &lt; 0.001 — strong treatment effect on AF</a:t>
            </a:r>
            <a:endParaRPr lang="en-US" sz="750" dirty="0"/>
          </a:p>
        </p:txBody>
      </p:sp>
      <p:sp>
        <p:nvSpPr>
          <p:cNvPr id="28" name="Text 25"/>
          <p:cNvSpPr/>
          <p:nvPr/>
        </p:nvSpPr>
        <p:spPr>
          <a:xfrm>
            <a:off x="320040" y="4754880"/>
            <a:ext cx="5486400" cy="228600"/>
          </a:xfrm>
          <a:prstGeom prst="rect">
            <a:avLst/>
          </a:prstGeom>
          <a:noFill/>
          <a:ln/>
        </p:spPr>
        <p:txBody>
          <a:bodyPr wrap="square" rtlCol="0" anchor="ctr"/>
          <a:lstStyle/>
          <a:p>
            <a:pPr marL="0" indent="0">
              <a:buNone/>
            </a:pPr>
            <a:r>
              <a:rPr lang="en-US" sz="800" i="1" dirty="0">
                <a:solidFill>
                  <a:srgbClr val="64748B"/>
                </a:solidFill>
              </a:rPr>
              <a:t>Error bars not shown; Kruskal–Wallis p &lt; 0.001</a:t>
            </a:r>
            <a:endParaRPr lang="en-US" sz="800" dirty="0"/>
          </a:p>
        </p:txBody>
      </p:sp>
      <p:pic>
        <p:nvPicPr>
          <p:cNvPr id="29" name="Image 0">
            <a:extLst>
              <a:ext uri="{FF2B5EF4-FFF2-40B4-BE49-F238E27FC236}">
                <a16:creationId xmlns:a16="http://schemas.microsoft.com/office/drawing/2014/main" id="{3B8C3A63-1F20-881D-F330-F2719333D6F9}"/>
              </a:ext>
            </a:extLst>
          </p:cNvPr>
          <p:cNvPicPr>
            <a:picLocks noChangeAspect="1"/>
          </p:cNvPicPr>
          <p:nvPr/>
        </p:nvPicPr>
        <p:blipFill>
          <a:blip r:embed="rId3"/>
          <a:srcRect/>
          <a:stretch/>
        </p:blipFill>
        <p:spPr>
          <a:xfrm>
            <a:off x="320040" y="1171653"/>
            <a:ext cx="5663315" cy="33979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PRIMARY OUTCOME</a:t>
            </a:r>
            <a:endParaRPr lang="en-US" sz="750" dirty="0"/>
          </a:p>
        </p:txBody>
      </p:sp>
      <p:sp>
        <p:nvSpPr>
          <p:cNvPr id="4" name="Text 2"/>
          <p:cNvSpPr/>
          <p:nvPr/>
        </p:nvSpPr>
        <p:spPr>
          <a:xfrm>
            <a:off x="365760" y="530352"/>
            <a:ext cx="8412480" cy="502920"/>
          </a:xfrm>
          <a:prstGeom prst="rect">
            <a:avLst/>
          </a:prstGeom>
          <a:noFill/>
          <a:ln/>
        </p:spPr>
        <p:txBody>
          <a:bodyPr wrap="square" rtlCol="0" anchor="ctr"/>
          <a:lstStyle/>
          <a:p>
            <a:r>
              <a:rPr lang="en-US" sz="2200" b="1" dirty="0">
                <a:solidFill>
                  <a:srgbClr val="1B2B4B"/>
                </a:solidFill>
                <a:latin typeface="Cambria" pitchFamily="34" charset="0"/>
                <a:ea typeface="Cambria" pitchFamily="34" charset="-122"/>
                <a:cs typeface="Cambria" pitchFamily="34" charset="-120"/>
              </a:rPr>
              <a:t>Effect of Treatment Group on PR</a:t>
            </a:r>
            <a:endParaRPr lang="en-US" sz="2200" dirty="0"/>
          </a:p>
        </p:txBody>
      </p:sp>
      <p:sp>
        <p:nvSpPr>
          <p:cNvPr id="5" name="Shape 3"/>
          <p:cNvSpPr/>
          <p:nvPr/>
        </p:nvSpPr>
        <p:spPr>
          <a:xfrm>
            <a:off x="365760" y="1078992"/>
            <a:ext cx="8412480" cy="0"/>
          </a:xfrm>
          <a:prstGeom prst="line">
            <a:avLst/>
          </a:prstGeom>
          <a:noFill/>
          <a:ln w="12700">
            <a:solidFill>
              <a:srgbClr val="DDE3EA"/>
            </a:solidFill>
            <a:prstDash val="solid"/>
          </a:ln>
        </p:spPr>
        <p:txBody>
          <a:bodyPr/>
          <a:lstStyle/>
          <a:p>
            <a:endParaRPr lang="en-US"/>
          </a:p>
        </p:txBody>
      </p:sp>
      <p:sp>
        <p:nvSpPr>
          <p:cNvPr id="7" name="Shape 4"/>
          <p:cNvSpPr/>
          <p:nvPr/>
        </p:nvSpPr>
        <p:spPr>
          <a:xfrm>
            <a:off x="5897880" y="1234440"/>
            <a:ext cx="2926080" cy="3318349"/>
          </a:xfrm>
          <a:prstGeom prst="rect">
            <a:avLst/>
          </a:prstGeom>
          <a:solidFill>
            <a:schemeClr val="bg2"/>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8" name="Text 5"/>
          <p:cNvSpPr/>
          <p:nvPr/>
        </p:nvSpPr>
        <p:spPr>
          <a:xfrm>
            <a:off x="6062472" y="1426464"/>
            <a:ext cx="2606040" cy="274320"/>
          </a:xfrm>
          <a:prstGeom prst="rect">
            <a:avLst/>
          </a:prstGeom>
          <a:solidFill>
            <a:srgbClr val="318A93"/>
          </a:solidFill>
          <a:ln/>
        </p:spPr>
        <p:txBody>
          <a:bodyPr wrap="square" rtlCol="0" anchor="ctr"/>
          <a:lstStyle/>
          <a:p>
            <a:pPr marL="0" indent="0">
              <a:buNone/>
            </a:pPr>
            <a:r>
              <a:rPr lang="en-US" sz="1100" b="1" dirty="0">
                <a:solidFill>
                  <a:schemeClr val="bg1"/>
                </a:solidFill>
              </a:rPr>
              <a:t>Key Observations</a:t>
            </a:r>
            <a:endParaRPr lang="en-US" sz="1100" dirty="0">
              <a:solidFill>
                <a:schemeClr val="bg1"/>
              </a:solidFill>
            </a:endParaRPr>
          </a:p>
        </p:txBody>
      </p:sp>
      <p:sp>
        <p:nvSpPr>
          <p:cNvPr id="9" name="Text 6"/>
          <p:cNvSpPr/>
          <p:nvPr/>
        </p:nvSpPr>
        <p:spPr>
          <a:xfrm>
            <a:off x="6062472" y="1792224"/>
            <a:ext cx="2606040" cy="457200"/>
          </a:xfrm>
          <a:prstGeom prst="rect">
            <a:avLst/>
          </a:prstGeom>
          <a:noFill/>
          <a:ln>
            <a:solidFill>
              <a:schemeClr val="tx1">
                <a:lumMod val="50000"/>
                <a:lumOff val="50000"/>
              </a:schemeClr>
            </a:solidFill>
          </a:ln>
        </p:spPr>
        <p:txBody>
          <a:bodyPr wrap="square" rtlCol="0" anchor="ctr"/>
          <a:lstStyle/>
          <a:p>
            <a:pPr marL="0" indent="0">
              <a:buNone/>
            </a:pPr>
            <a:r>
              <a:rPr lang="en-US" sz="950" b="1" dirty="0">
                <a:solidFill>
                  <a:srgbClr val="E8A838"/>
                </a:solidFill>
                <a:latin typeface="Calibri" pitchFamily="34" charset="0"/>
                <a:ea typeface="Calibri" pitchFamily="34" charset="-122"/>
                <a:cs typeface="Calibri" pitchFamily="34" charset="-120"/>
              </a:rPr>
              <a:t>●  </a:t>
            </a:r>
            <a:r>
              <a:rPr lang="en-US" sz="950" dirty="0">
                <a:solidFill>
                  <a:srgbClr val="1B2B4B"/>
                </a:solidFill>
                <a:latin typeface="Calibri" pitchFamily="34" charset="0"/>
                <a:ea typeface="Calibri" pitchFamily="34" charset="-122"/>
                <a:cs typeface="Calibri" pitchFamily="34" charset="-120"/>
              </a:rPr>
              <a:t>Treatment B has the highest PR rate (65.5%)</a:t>
            </a:r>
            <a:endParaRPr lang="en-US" sz="950" dirty="0"/>
          </a:p>
        </p:txBody>
      </p:sp>
      <p:sp>
        <p:nvSpPr>
          <p:cNvPr id="10" name="Text 7"/>
          <p:cNvSpPr/>
          <p:nvPr/>
        </p:nvSpPr>
        <p:spPr>
          <a:xfrm>
            <a:off x="6062472" y="2322576"/>
            <a:ext cx="2606040" cy="457200"/>
          </a:xfrm>
          <a:prstGeom prst="rect">
            <a:avLst/>
          </a:prstGeom>
          <a:noFill/>
          <a:ln>
            <a:solidFill>
              <a:schemeClr val="tx1">
                <a:lumMod val="50000"/>
                <a:lumOff val="50000"/>
              </a:schemeClr>
            </a:solidFill>
          </a:ln>
        </p:spPr>
        <p:txBody>
          <a:bodyPr wrap="square" rtlCol="0" anchor="ctr"/>
          <a:lstStyle/>
          <a:p>
            <a:pPr marL="0" indent="0">
              <a:buNone/>
            </a:pPr>
            <a:r>
              <a:rPr lang="en-US" sz="950" b="1" dirty="0">
                <a:solidFill>
                  <a:srgbClr val="0D7680"/>
                </a:solidFill>
                <a:latin typeface="Calibri" pitchFamily="34" charset="0"/>
                <a:ea typeface="Calibri" pitchFamily="34" charset="-122"/>
                <a:cs typeface="Calibri" pitchFamily="34" charset="-120"/>
              </a:rPr>
              <a:t>●  </a:t>
            </a:r>
            <a:r>
              <a:rPr lang="en-US" sz="950" dirty="0">
                <a:solidFill>
                  <a:srgbClr val="1B2B4B"/>
                </a:solidFill>
                <a:latin typeface="Calibri" pitchFamily="34" charset="0"/>
                <a:ea typeface="Calibri" pitchFamily="34" charset="-122"/>
                <a:cs typeface="Calibri" pitchFamily="34" charset="-120"/>
              </a:rPr>
              <a:t>Treatment A: moderate PR rate (53.1%)</a:t>
            </a:r>
            <a:endParaRPr lang="en-US" sz="950" dirty="0"/>
          </a:p>
        </p:txBody>
      </p:sp>
      <p:sp>
        <p:nvSpPr>
          <p:cNvPr id="11" name="Text 8"/>
          <p:cNvSpPr/>
          <p:nvPr/>
        </p:nvSpPr>
        <p:spPr>
          <a:xfrm>
            <a:off x="6062472" y="2852928"/>
            <a:ext cx="2606040" cy="457200"/>
          </a:xfrm>
          <a:prstGeom prst="rect">
            <a:avLst/>
          </a:prstGeom>
          <a:noFill/>
          <a:ln>
            <a:solidFill>
              <a:schemeClr val="tx1">
                <a:lumMod val="50000"/>
                <a:lumOff val="50000"/>
              </a:schemeClr>
            </a:solidFill>
          </a:ln>
        </p:spPr>
        <p:txBody>
          <a:bodyPr wrap="square" rtlCol="0" anchor="ctr"/>
          <a:lstStyle/>
          <a:p>
            <a:pPr marL="0" indent="0">
              <a:buNone/>
            </a:pPr>
            <a:r>
              <a:rPr lang="en-US" sz="950" b="1" dirty="0">
                <a:solidFill>
                  <a:srgbClr val="A06030"/>
                </a:solidFill>
                <a:latin typeface="Calibri" pitchFamily="34" charset="0"/>
                <a:ea typeface="Calibri" pitchFamily="34" charset="-122"/>
                <a:cs typeface="Calibri" pitchFamily="34" charset="-120"/>
              </a:rPr>
              <a:t>●  </a:t>
            </a:r>
            <a:r>
              <a:rPr lang="en-US" sz="950" dirty="0">
                <a:solidFill>
                  <a:srgbClr val="1B2B4B"/>
                </a:solidFill>
                <a:latin typeface="Calibri" pitchFamily="34" charset="0"/>
                <a:ea typeface="Calibri" pitchFamily="34" charset="-122"/>
                <a:cs typeface="Calibri" pitchFamily="34" charset="-120"/>
              </a:rPr>
              <a:t>Treatment C: lowest PR rate (38.5%) despite 2nd highest AF</a:t>
            </a:r>
            <a:endParaRPr lang="en-US" sz="950" dirty="0"/>
          </a:p>
        </p:txBody>
      </p:sp>
      <p:sp>
        <p:nvSpPr>
          <p:cNvPr id="12" name="Text 9"/>
          <p:cNvSpPr/>
          <p:nvPr/>
        </p:nvSpPr>
        <p:spPr>
          <a:xfrm>
            <a:off x="6062472" y="3383280"/>
            <a:ext cx="2606040" cy="457200"/>
          </a:xfrm>
          <a:prstGeom prst="rect">
            <a:avLst/>
          </a:prstGeom>
          <a:noFill/>
          <a:ln>
            <a:solidFill>
              <a:schemeClr val="tx1">
                <a:lumMod val="50000"/>
                <a:lumOff val="50000"/>
              </a:schemeClr>
            </a:solidFill>
          </a:ln>
        </p:spPr>
        <p:txBody>
          <a:bodyPr wrap="square" rtlCol="0" anchor="ctr"/>
          <a:lstStyle/>
          <a:p>
            <a:pPr marL="0" indent="0">
              <a:buNone/>
            </a:pPr>
            <a:r>
              <a:rPr lang="en-US" sz="950" b="1" dirty="0">
                <a:solidFill>
                  <a:srgbClr val="1B2B4B"/>
                </a:solidFill>
                <a:latin typeface="Calibri" pitchFamily="34" charset="0"/>
                <a:ea typeface="Calibri" pitchFamily="34" charset="-122"/>
                <a:cs typeface="Calibri" pitchFamily="34" charset="-120"/>
              </a:rPr>
              <a:t>→  </a:t>
            </a:r>
            <a:r>
              <a:rPr lang="en-US" sz="950" dirty="0">
                <a:solidFill>
                  <a:srgbClr val="1B2B4B"/>
                </a:solidFill>
                <a:latin typeface="Calibri" pitchFamily="34" charset="0"/>
                <a:ea typeface="Calibri" pitchFamily="34" charset="-122"/>
                <a:cs typeface="Calibri" pitchFamily="34" charset="-120"/>
              </a:rPr>
              <a:t>AF and PR do not perfectly align — treatment C may achieve high AF without triggering PR</a:t>
            </a:r>
            <a:endParaRPr lang="en-US" sz="950" dirty="0"/>
          </a:p>
        </p:txBody>
      </p:sp>
      <p:sp>
        <p:nvSpPr>
          <p:cNvPr id="13" name="Text 10"/>
          <p:cNvSpPr/>
          <p:nvPr/>
        </p:nvSpPr>
        <p:spPr>
          <a:xfrm>
            <a:off x="6062472" y="3913632"/>
            <a:ext cx="2606040" cy="457200"/>
          </a:xfrm>
          <a:prstGeom prst="rect">
            <a:avLst/>
          </a:prstGeom>
          <a:noFill/>
          <a:ln>
            <a:solidFill>
              <a:schemeClr val="tx1">
                <a:lumMod val="50000"/>
                <a:lumOff val="50000"/>
              </a:schemeClr>
            </a:solidFill>
          </a:ln>
        </p:spPr>
        <p:txBody>
          <a:bodyPr wrap="square" rtlCol="0" anchor="ctr"/>
          <a:lstStyle/>
          <a:p>
            <a:pPr marL="0" indent="0">
              <a:buNone/>
            </a:pPr>
            <a:r>
              <a:rPr lang="en-US" sz="950" b="1" dirty="0">
                <a:solidFill>
                  <a:srgbClr val="1B2B4B"/>
                </a:solidFill>
                <a:latin typeface="Calibri" pitchFamily="34" charset="0"/>
                <a:ea typeface="Calibri" pitchFamily="34" charset="-122"/>
                <a:cs typeface="Calibri" pitchFamily="34" charset="-120"/>
              </a:rPr>
              <a:t>→  </a:t>
            </a:r>
            <a:r>
              <a:rPr lang="en-US" sz="950" dirty="0">
                <a:solidFill>
                  <a:srgbClr val="1B2B4B"/>
                </a:solidFill>
                <a:latin typeface="Calibri" pitchFamily="34" charset="0"/>
                <a:ea typeface="Calibri" pitchFamily="34" charset="-122"/>
                <a:cs typeface="Calibri" pitchFamily="34" charset="-120"/>
              </a:rPr>
              <a:t>Treatment × outcome relationship warrants formal modelling</a:t>
            </a:r>
            <a:endParaRPr lang="en-US" sz="950" dirty="0"/>
          </a:p>
        </p:txBody>
      </p:sp>
      <p:sp>
        <p:nvSpPr>
          <p:cNvPr id="14" name="Text 11"/>
          <p:cNvSpPr/>
          <p:nvPr/>
        </p:nvSpPr>
        <p:spPr>
          <a:xfrm>
            <a:off x="320040" y="4754880"/>
            <a:ext cx="5303520" cy="228600"/>
          </a:xfrm>
          <a:prstGeom prst="rect">
            <a:avLst/>
          </a:prstGeom>
          <a:noFill/>
          <a:ln/>
        </p:spPr>
        <p:txBody>
          <a:bodyPr wrap="square" rtlCol="0" anchor="ctr"/>
          <a:lstStyle/>
          <a:p>
            <a:pPr marL="0" indent="0">
              <a:buNone/>
            </a:pPr>
            <a:r>
              <a:rPr lang="en-US" sz="800" i="1" dirty="0">
                <a:solidFill>
                  <a:srgbClr val="64748B"/>
                </a:solidFill>
              </a:rPr>
              <a:t>χ² test: p = 0.084 (marginal)</a:t>
            </a:r>
            <a:endParaRPr lang="en-US" sz="800" dirty="0"/>
          </a:p>
        </p:txBody>
      </p:sp>
      <p:pic>
        <p:nvPicPr>
          <p:cNvPr id="15" name="Image 0">
            <a:extLst>
              <a:ext uri="{FF2B5EF4-FFF2-40B4-BE49-F238E27FC236}">
                <a16:creationId xmlns:a16="http://schemas.microsoft.com/office/drawing/2014/main" id="{0305B681-3B42-2505-7553-84AAE8652052}"/>
              </a:ext>
            </a:extLst>
          </p:cNvPr>
          <p:cNvPicPr>
            <a:picLocks noChangeAspect="1"/>
          </p:cNvPicPr>
          <p:nvPr/>
        </p:nvPicPr>
        <p:blipFill>
          <a:blip r:embed="rId3"/>
          <a:srcRect/>
          <a:stretch/>
        </p:blipFill>
        <p:spPr>
          <a:xfrm>
            <a:off x="320040" y="1299358"/>
            <a:ext cx="5422392" cy="32534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COVARIATES</a:t>
            </a:r>
            <a:endParaRPr lang="en-US" sz="750" dirty="0"/>
          </a:p>
        </p:txBody>
      </p:sp>
      <p:sp>
        <p:nvSpPr>
          <p:cNvPr id="4" name="Text 2"/>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The Role of Age</a:t>
            </a:r>
            <a:endParaRPr lang="en-US" sz="2200" dirty="0"/>
          </a:p>
        </p:txBody>
      </p:sp>
      <p:sp>
        <p:nvSpPr>
          <p:cNvPr id="5" name="Shape 3"/>
          <p:cNvSpPr/>
          <p:nvPr/>
        </p:nvSpPr>
        <p:spPr>
          <a:xfrm>
            <a:off x="365760" y="1078992"/>
            <a:ext cx="8412480" cy="0"/>
          </a:xfrm>
          <a:prstGeom prst="line">
            <a:avLst/>
          </a:prstGeom>
          <a:noFill/>
          <a:ln w="12700">
            <a:solidFill>
              <a:srgbClr val="DDE3EA"/>
            </a:solidFill>
            <a:prstDash val="solid"/>
          </a:ln>
        </p:spPr>
        <p:txBody>
          <a:bodyPr/>
          <a:lstStyle/>
          <a:p>
            <a:endParaRPr lang="en-US"/>
          </a:p>
        </p:txBody>
      </p:sp>
      <p:pic>
        <p:nvPicPr>
          <p:cNvPr id="23" name="Picture 22" descr="A graph with blue dots and orange lines&#10;&#10;AI-generated content may be incorrect.">
            <a:extLst>
              <a:ext uri="{FF2B5EF4-FFF2-40B4-BE49-F238E27FC236}">
                <a16:creationId xmlns:a16="http://schemas.microsoft.com/office/drawing/2014/main" id="{3476F626-49BF-FF59-0E39-873C70CF6C08}"/>
              </a:ext>
            </a:extLst>
          </p:cNvPr>
          <p:cNvPicPr>
            <a:picLocks noChangeAspect="1"/>
          </p:cNvPicPr>
          <p:nvPr/>
        </p:nvPicPr>
        <p:blipFill>
          <a:blip r:embed="rId3"/>
          <a:stretch>
            <a:fillRect/>
          </a:stretch>
        </p:blipFill>
        <p:spPr>
          <a:xfrm>
            <a:off x="256040" y="1124714"/>
            <a:ext cx="4242800" cy="3182100"/>
          </a:xfrm>
          <a:prstGeom prst="rect">
            <a:avLst/>
          </a:prstGeom>
        </p:spPr>
      </p:pic>
      <p:pic>
        <p:nvPicPr>
          <p:cNvPr id="25" name="Picture 24" descr="A graph with a line and a square&#10;&#10;AI-generated content may be incorrect.">
            <a:extLst>
              <a:ext uri="{FF2B5EF4-FFF2-40B4-BE49-F238E27FC236}">
                <a16:creationId xmlns:a16="http://schemas.microsoft.com/office/drawing/2014/main" id="{6F627496-C7F3-FF62-5F1E-D5DE306F561B}"/>
              </a:ext>
            </a:extLst>
          </p:cNvPr>
          <p:cNvPicPr>
            <a:picLocks noChangeAspect="1"/>
          </p:cNvPicPr>
          <p:nvPr/>
        </p:nvPicPr>
        <p:blipFill>
          <a:blip r:embed="rId4"/>
          <a:stretch>
            <a:fillRect/>
          </a:stretch>
        </p:blipFill>
        <p:spPr>
          <a:xfrm>
            <a:off x="4645161" y="1124713"/>
            <a:ext cx="4242800" cy="3182100"/>
          </a:xfrm>
          <a:prstGeom prst="rect">
            <a:avLst/>
          </a:prstGeom>
        </p:spPr>
      </p:pic>
      <p:sp>
        <p:nvSpPr>
          <p:cNvPr id="26" name="Shape 8">
            <a:extLst>
              <a:ext uri="{FF2B5EF4-FFF2-40B4-BE49-F238E27FC236}">
                <a16:creationId xmlns:a16="http://schemas.microsoft.com/office/drawing/2014/main" id="{38CDEE5F-7C25-FDA7-32F7-E644969D35D8}"/>
              </a:ext>
            </a:extLst>
          </p:cNvPr>
          <p:cNvSpPr/>
          <p:nvPr/>
        </p:nvSpPr>
        <p:spPr>
          <a:xfrm>
            <a:off x="4572000" y="1143000"/>
            <a:ext cx="0" cy="3108960"/>
          </a:xfrm>
          <a:prstGeom prst="line">
            <a:avLst/>
          </a:prstGeom>
          <a:noFill/>
          <a:ln w="12700">
            <a:solidFill>
              <a:srgbClr val="DDE3EA"/>
            </a:solidFill>
            <a:prstDash val="dash"/>
          </a:ln>
        </p:spPr>
        <p:txBody>
          <a:bodyPr/>
          <a:lstStyle/>
          <a:p>
            <a:endParaRPr lang="en-US"/>
          </a:p>
        </p:txBody>
      </p:sp>
      <p:sp>
        <p:nvSpPr>
          <p:cNvPr id="27" name="Shape 9">
            <a:extLst>
              <a:ext uri="{FF2B5EF4-FFF2-40B4-BE49-F238E27FC236}">
                <a16:creationId xmlns:a16="http://schemas.microsoft.com/office/drawing/2014/main" id="{202E98A6-5D71-ADA3-AA85-D9473AFAB7E2}"/>
              </a:ext>
            </a:extLst>
          </p:cNvPr>
          <p:cNvSpPr/>
          <p:nvPr/>
        </p:nvSpPr>
        <p:spPr>
          <a:xfrm>
            <a:off x="320040" y="4407408"/>
            <a:ext cx="8503920" cy="502920"/>
          </a:xfrm>
          <a:prstGeom prst="rect">
            <a:avLst/>
          </a:prstGeom>
          <a:solidFill>
            <a:srgbClr val="EEF7F7"/>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28" name="Text 10">
            <a:extLst>
              <a:ext uri="{FF2B5EF4-FFF2-40B4-BE49-F238E27FC236}">
                <a16:creationId xmlns:a16="http://schemas.microsoft.com/office/drawing/2014/main" id="{A4E61816-DC3E-3C70-F321-EA8AE176620E}"/>
              </a:ext>
            </a:extLst>
          </p:cNvPr>
          <p:cNvSpPr/>
          <p:nvPr/>
        </p:nvSpPr>
        <p:spPr>
          <a:xfrm>
            <a:off x="502920" y="4480560"/>
            <a:ext cx="8229600" cy="347472"/>
          </a:xfrm>
          <a:prstGeom prst="rect">
            <a:avLst/>
          </a:prstGeom>
          <a:noFill/>
          <a:ln/>
        </p:spPr>
        <p:txBody>
          <a:bodyPr wrap="square" rtlCol="0" anchor="ctr"/>
          <a:lstStyle/>
          <a:p>
            <a:pPr marL="0" indent="0">
              <a:buNone/>
            </a:pPr>
            <a:r>
              <a:rPr lang="en-US" sz="1000" dirty="0">
                <a:solidFill>
                  <a:srgbClr val="0D7680"/>
                </a:solidFill>
                <a:latin typeface="Calibri" pitchFamily="34" charset="0"/>
                <a:ea typeface="Calibri" pitchFamily="34" charset="-122"/>
                <a:cs typeface="Calibri" pitchFamily="34" charset="-120"/>
              </a:rPr>
              <a:t>Age differs marginally across treatment groups (p = 0.040) and is strongly associated with PR outcome — should be included as a covariate in models.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INTERACTION</a:t>
            </a:r>
            <a:endParaRPr lang="en-US" sz="750" dirty="0"/>
          </a:p>
        </p:txBody>
      </p:sp>
      <p:sp>
        <p:nvSpPr>
          <p:cNvPr id="4" name="Text 2"/>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Treatment × Age → AF</a:t>
            </a:r>
            <a:endParaRPr lang="en-US" sz="2200" dirty="0"/>
          </a:p>
        </p:txBody>
      </p:sp>
      <p:sp>
        <p:nvSpPr>
          <p:cNvPr id="5" name="Shape 3"/>
          <p:cNvSpPr/>
          <p:nvPr/>
        </p:nvSpPr>
        <p:spPr>
          <a:xfrm>
            <a:off x="365760" y="1078992"/>
            <a:ext cx="8412480" cy="0"/>
          </a:xfrm>
          <a:prstGeom prst="line">
            <a:avLst/>
          </a:prstGeom>
          <a:noFill/>
          <a:ln w="12700">
            <a:solidFill>
              <a:srgbClr val="DDE3EA"/>
            </a:solidFill>
            <a:prstDash val="solid"/>
          </a:ln>
        </p:spPr>
        <p:txBody>
          <a:bodyPr/>
          <a:lstStyle/>
          <a:p>
            <a:endParaRPr lang="en-US"/>
          </a:p>
        </p:txBody>
      </p:sp>
      <p:sp>
        <p:nvSpPr>
          <p:cNvPr id="8" name="Shape 5"/>
          <p:cNvSpPr/>
          <p:nvPr/>
        </p:nvSpPr>
        <p:spPr>
          <a:xfrm>
            <a:off x="6172200" y="1234440"/>
            <a:ext cx="2651760" cy="10972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6"/>
          <p:cNvSpPr/>
          <p:nvPr/>
        </p:nvSpPr>
        <p:spPr>
          <a:xfrm>
            <a:off x="6172200" y="1234440"/>
            <a:ext cx="64008" cy="1097280"/>
          </a:xfrm>
          <a:prstGeom prst="rect">
            <a:avLst/>
          </a:prstGeom>
          <a:solidFill>
            <a:srgbClr val="0D7680"/>
          </a:solidFill>
          <a:ln w="12700">
            <a:solidFill>
              <a:srgbClr val="0D7680"/>
            </a:solidFill>
            <a:prstDash val="solid"/>
          </a:ln>
        </p:spPr>
        <p:txBody>
          <a:bodyPr/>
          <a:lstStyle/>
          <a:p>
            <a:endParaRPr lang="en-US"/>
          </a:p>
        </p:txBody>
      </p:sp>
      <p:sp>
        <p:nvSpPr>
          <p:cNvPr id="10" name="Text 7"/>
          <p:cNvSpPr/>
          <p:nvPr/>
        </p:nvSpPr>
        <p:spPr>
          <a:xfrm>
            <a:off x="6336792" y="1403604"/>
            <a:ext cx="2423160" cy="228600"/>
          </a:xfrm>
          <a:prstGeom prst="rect">
            <a:avLst/>
          </a:prstGeom>
          <a:noFill/>
          <a:ln/>
        </p:spPr>
        <p:txBody>
          <a:bodyPr wrap="square" rtlCol="0" anchor="ctr"/>
          <a:lstStyle/>
          <a:p>
            <a:pPr marL="0" indent="0">
              <a:buNone/>
            </a:pPr>
            <a:r>
              <a:rPr lang="en-US" sz="1000" b="1" dirty="0">
                <a:solidFill>
                  <a:srgbClr val="1B2B4B"/>
                </a:solidFill>
              </a:rPr>
              <a:t>Parallel slopes</a:t>
            </a:r>
            <a:endParaRPr lang="en-US" sz="1000" dirty="0"/>
          </a:p>
        </p:txBody>
      </p:sp>
      <p:sp>
        <p:nvSpPr>
          <p:cNvPr id="11" name="Text 8"/>
          <p:cNvSpPr/>
          <p:nvPr/>
        </p:nvSpPr>
        <p:spPr>
          <a:xfrm>
            <a:off x="6336792" y="1581912"/>
            <a:ext cx="2423160" cy="6583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Within each treatment arm, AF increases consistently with age — slopes are similar across groups, indicating no treatment × age interaction.</a:t>
            </a:r>
            <a:endParaRPr lang="en-US" sz="850" dirty="0"/>
          </a:p>
        </p:txBody>
      </p:sp>
      <p:sp>
        <p:nvSpPr>
          <p:cNvPr id="12" name="Shape 9"/>
          <p:cNvSpPr/>
          <p:nvPr/>
        </p:nvSpPr>
        <p:spPr>
          <a:xfrm>
            <a:off x="6172200" y="2468880"/>
            <a:ext cx="2651760" cy="10972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0"/>
          <p:cNvSpPr/>
          <p:nvPr/>
        </p:nvSpPr>
        <p:spPr>
          <a:xfrm>
            <a:off x="6172200" y="2468880"/>
            <a:ext cx="64008" cy="1097280"/>
          </a:xfrm>
          <a:prstGeom prst="rect">
            <a:avLst/>
          </a:prstGeom>
          <a:solidFill>
            <a:srgbClr val="0D7680"/>
          </a:solidFill>
          <a:ln w="12700">
            <a:solidFill>
              <a:srgbClr val="0D7680"/>
            </a:solidFill>
            <a:prstDash val="solid"/>
          </a:ln>
        </p:spPr>
        <p:txBody>
          <a:bodyPr/>
          <a:lstStyle/>
          <a:p>
            <a:endParaRPr lang="en-US"/>
          </a:p>
        </p:txBody>
      </p:sp>
      <p:sp>
        <p:nvSpPr>
          <p:cNvPr id="14" name="Text 11"/>
          <p:cNvSpPr/>
          <p:nvPr/>
        </p:nvSpPr>
        <p:spPr>
          <a:xfrm>
            <a:off x="6336792" y="2633472"/>
            <a:ext cx="2423160" cy="228600"/>
          </a:xfrm>
          <a:prstGeom prst="rect">
            <a:avLst/>
          </a:prstGeom>
          <a:noFill/>
          <a:ln/>
        </p:spPr>
        <p:txBody>
          <a:bodyPr wrap="square" rtlCol="0" anchor="ctr"/>
          <a:lstStyle/>
          <a:p>
            <a:pPr marL="0" indent="0">
              <a:buNone/>
            </a:pPr>
            <a:r>
              <a:rPr lang="en-US" sz="1000" b="1" dirty="0">
                <a:solidFill>
                  <a:srgbClr val="1B2B4B"/>
                </a:solidFill>
              </a:rPr>
              <a:t>Treatment dominates</a:t>
            </a:r>
            <a:endParaRPr lang="en-US" sz="1000" dirty="0"/>
          </a:p>
        </p:txBody>
      </p:sp>
      <p:sp>
        <p:nvSpPr>
          <p:cNvPr id="15" name="Text 12"/>
          <p:cNvSpPr/>
          <p:nvPr/>
        </p:nvSpPr>
        <p:spPr>
          <a:xfrm>
            <a:off x="6336792" y="2816352"/>
            <a:ext cx="2423160" cy="6583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large separation between group A and groups B/C confirms that treatment, not age alone, is the primary driver of AF.</a:t>
            </a:r>
            <a:endParaRPr lang="en-US" sz="850" dirty="0"/>
          </a:p>
        </p:txBody>
      </p:sp>
      <p:sp>
        <p:nvSpPr>
          <p:cNvPr id="16" name="Shape 13"/>
          <p:cNvSpPr/>
          <p:nvPr/>
        </p:nvSpPr>
        <p:spPr>
          <a:xfrm>
            <a:off x="6172200" y="3703320"/>
            <a:ext cx="2651760" cy="10972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4"/>
          <p:cNvSpPr/>
          <p:nvPr/>
        </p:nvSpPr>
        <p:spPr>
          <a:xfrm>
            <a:off x="6172200" y="3703320"/>
            <a:ext cx="64008" cy="1097280"/>
          </a:xfrm>
          <a:prstGeom prst="rect">
            <a:avLst/>
          </a:prstGeom>
          <a:solidFill>
            <a:srgbClr val="0D7680"/>
          </a:solidFill>
          <a:ln w="12700">
            <a:solidFill>
              <a:srgbClr val="0D7680"/>
            </a:solidFill>
            <a:prstDash val="solid"/>
          </a:ln>
        </p:spPr>
        <p:txBody>
          <a:bodyPr/>
          <a:lstStyle/>
          <a:p>
            <a:endParaRPr lang="en-US"/>
          </a:p>
        </p:txBody>
      </p:sp>
      <p:sp>
        <p:nvSpPr>
          <p:cNvPr id="18" name="Text 15"/>
          <p:cNvSpPr/>
          <p:nvPr/>
        </p:nvSpPr>
        <p:spPr>
          <a:xfrm>
            <a:off x="6336792" y="3867912"/>
            <a:ext cx="2423160" cy="228600"/>
          </a:xfrm>
          <a:prstGeom prst="rect">
            <a:avLst/>
          </a:prstGeom>
          <a:noFill/>
          <a:ln/>
        </p:spPr>
        <p:txBody>
          <a:bodyPr wrap="square" rtlCol="0" anchor="ctr"/>
          <a:lstStyle/>
          <a:p>
            <a:pPr marL="0" indent="0">
              <a:buNone/>
            </a:pPr>
            <a:r>
              <a:rPr lang="en-US" sz="1000" b="1" dirty="0">
                <a:solidFill>
                  <a:srgbClr val="1B2B4B"/>
                </a:solidFill>
              </a:rPr>
              <a:t>Modelling implication</a:t>
            </a:r>
            <a:endParaRPr lang="en-US" sz="1000" dirty="0"/>
          </a:p>
        </p:txBody>
      </p:sp>
      <p:sp>
        <p:nvSpPr>
          <p:cNvPr id="19" name="Text 16"/>
          <p:cNvSpPr/>
          <p:nvPr/>
        </p:nvSpPr>
        <p:spPr>
          <a:xfrm>
            <a:off x="6336792" y="4050792"/>
            <a:ext cx="2423160" cy="6583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Age should be included as an additive covariate. No interaction term is needed for age × treatment in the AF model.</a:t>
            </a:r>
            <a:endParaRPr lang="en-US" sz="850" dirty="0"/>
          </a:p>
        </p:txBody>
      </p:sp>
      <p:pic>
        <p:nvPicPr>
          <p:cNvPr id="21" name="Picture 20">
            <a:extLst>
              <a:ext uri="{FF2B5EF4-FFF2-40B4-BE49-F238E27FC236}">
                <a16:creationId xmlns:a16="http://schemas.microsoft.com/office/drawing/2014/main" id="{162C3AB2-D101-F8AC-93DB-CDA0CE6A2B47}"/>
              </a:ext>
            </a:extLst>
          </p:cNvPr>
          <p:cNvPicPr>
            <a:picLocks noChangeAspect="1"/>
          </p:cNvPicPr>
          <p:nvPr/>
        </p:nvPicPr>
        <p:blipFill>
          <a:blip r:embed="rId3"/>
          <a:srcRect/>
          <a:stretch/>
        </p:blipFill>
        <p:spPr>
          <a:xfrm>
            <a:off x="384048" y="1179577"/>
            <a:ext cx="5453505" cy="3635670"/>
          </a:xfrm>
          <a:prstGeom prst="rect">
            <a:avLst/>
          </a:prstGeom>
        </p:spPr>
      </p:pic>
      <p:sp>
        <p:nvSpPr>
          <p:cNvPr id="22" name="Shape 8">
            <a:extLst>
              <a:ext uri="{FF2B5EF4-FFF2-40B4-BE49-F238E27FC236}">
                <a16:creationId xmlns:a16="http://schemas.microsoft.com/office/drawing/2014/main" id="{7DD72A6C-6846-BCC9-2318-2C06CFDC8DEF}"/>
              </a:ext>
            </a:extLst>
          </p:cNvPr>
          <p:cNvSpPr/>
          <p:nvPr/>
        </p:nvSpPr>
        <p:spPr>
          <a:xfrm>
            <a:off x="5998464" y="1179576"/>
            <a:ext cx="0" cy="3635669"/>
          </a:xfrm>
          <a:prstGeom prst="line">
            <a:avLst/>
          </a:prstGeom>
          <a:noFill/>
          <a:ln w="12700">
            <a:solidFill>
              <a:srgbClr val="DDE3EA"/>
            </a:solidFill>
            <a:prstDash val="dash"/>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COVARIATES</a:t>
            </a:r>
            <a:endParaRPr lang="en-US" sz="750" dirty="0"/>
          </a:p>
        </p:txBody>
      </p:sp>
      <p:sp>
        <p:nvSpPr>
          <p:cNvPr id="4" name="Text 2"/>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The</a:t>
            </a:r>
            <a:r>
              <a:rPr lang="zh-CN" altLang="en-US" sz="2200" b="1" dirty="0">
                <a:solidFill>
                  <a:srgbClr val="1B2B4B"/>
                </a:solidFill>
                <a:latin typeface="Cambria" pitchFamily="34" charset="0"/>
                <a:ea typeface="Cambria" pitchFamily="34" charset="-122"/>
                <a:cs typeface="Cambria" pitchFamily="34" charset="-120"/>
              </a:rPr>
              <a:t> </a:t>
            </a:r>
            <a:r>
              <a:rPr lang="en-US" altLang="zh-CN" sz="2200" b="1" dirty="0">
                <a:solidFill>
                  <a:srgbClr val="1B2B4B"/>
                </a:solidFill>
                <a:latin typeface="Cambria" pitchFamily="34" charset="0"/>
                <a:ea typeface="Cambria" pitchFamily="34" charset="-122"/>
                <a:cs typeface="Cambria" pitchFamily="34" charset="-120"/>
              </a:rPr>
              <a:t>Role</a:t>
            </a:r>
            <a:r>
              <a:rPr lang="zh-CN" altLang="en-US" sz="2200" b="1" dirty="0">
                <a:solidFill>
                  <a:srgbClr val="1B2B4B"/>
                </a:solidFill>
                <a:latin typeface="Cambria" pitchFamily="34" charset="0"/>
                <a:ea typeface="Cambria" pitchFamily="34" charset="-122"/>
                <a:cs typeface="Cambria" pitchFamily="34" charset="-120"/>
              </a:rPr>
              <a:t> </a:t>
            </a:r>
            <a:r>
              <a:rPr lang="en-US" altLang="zh-CN" sz="2200" b="1" dirty="0">
                <a:solidFill>
                  <a:srgbClr val="1B2B4B"/>
                </a:solidFill>
                <a:latin typeface="Cambria" pitchFamily="34" charset="0"/>
                <a:ea typeface="Cambria" pitchFamily="34" charset="-122"/>
                <a:cs typeface="Cambria" pitchFamily="34" charset="-120"/>
              </a:rPr>
              <a:t>of</a:t>
            </a:r>
            <a:r>
              <a:rPr lang="zh-CN" altLang="en-US" sz="2200" b="1" dirty="0">
                <a:solidFill>
                  <a:srgbClr val="1B2B4B"/>
                </a:solidFill>
                <a:latin typeface="Cambria" pitchFamily="34" charset="0"/>
                <a:ea typeface="Cambria" pitchFamily="34" charset="-122"/>
                <a:cs typeface="Cambria" pitchFamily="34" charset="-120"/>
              </a:rPr>
              <a:t> </a:t>
            </a:r>
            <a:r>
              <a:rPr lang="en-US" sz="2200" b="1" dirty="0">
                <a:solidFill>
                  <a:srgbClr val="1B2B4B"/>
                </a:solidFill>
                <a:latin typeface="Cambria" pitchFamily="34" charset="0"/>
                <a:ea typeface="Cambria" pitchFamily="34" charset="-122"/>
                <a:cs typeface="Cambria" pitchFamily="34" charset="-120"/>
              </a:rPr>
              <a:t>Sex</a:t>
            </a:r>
            <a:endParaRPr lang="en-US" sz="2200" dirty="0"/>
          </a:p>
        </p:txBody>
      </p:sp>
      <p:sp>
        <p:nvSpPr>
          <p:cNvPr id="5" name="Shape 3"/>
          <p:cNvSpPr/>
          <p:nvPr/>
        </p:nvSpPr>
        <p:spPr>
          <a:xfrm>
            <a:off x="365760" y="1078992"/>
            <a:ext cx="8412480" cy="0"/>
          </a:xfrm>
          <a:prstGeom prst="line">
            <a:avLst/>
          </a:prstGeom>
          <a:noFill/>
          <a:ln w="12700">
            <a:solidFill>
              <a:srgbClr val="DDE3EA"/>
            </a:solidFill>
            <a:prstDash val="solid"/>
          </a:ln>
        </p:spPr>
        <p:txBody>
          <a:bodyPr/>
          <a:lstStyle/>
          <a:p>
            <a:endParaRPr lang="en-US"/>
          </a:p>
        </p:txBody>
      </p:sp>
      <p:sp>
        <p:nvSpPr>
          <p:cNvPr id="12" name="Shape 8"/>
          <p:cNvSpPr/>
          <p:nvPr/>
        </p:nvSpPr>
        <p:spPr>
          <a:xfrm>
            <a:off x="4572000" y="1143000"/>
            <a:ext cx="0" cy="3108960"/>
          </a:xfrm>
          <a:prstGeom prst="line">
            <a:avLst/>
          </a:prstGeom>
          <a:noFill/>
          <a:ln w="12700">
            <a:solidFill>
              <a:srgbClr val="DDE3EA"/>
            </a:solidFill>
            <a:prstDash val="dash"/>
          </a:ln>
        </p:spPr>
        <p:txBody>
          <a:bodyPr/>
          <a:lstStyle/>
          <a:p>
            <a:endParaRPr lang="en-US"/>
          </a:p>
        </p:txBody>
      </p:sp>
      <p:sp>
        <p:nvSpPr>
          <p:cNvPr id="13" name="Shape 9"/>
          <p:cNvSpPr/>
          <p:nvPr/>
        </p:nvSpPr>
        <p:spPr>
          <a:xfrm>
            <a:off x="320040" y="4407408"/>
            <a:ext cx="8503920" cy="502920"/>
          </a:xfrm>
          <a:prstGeom prst="rect">
            <a:avLst/>
          </a:prstGeom>
          <a:solidFill>
            <a:srgbClr val="EEF7F7"/>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4" name="Text 10"/>
          <p:cNvSpPr/>
          <p:nvPr/>
        </p:nvSpPr>
        <p:spPr>
          <a:xfrm>
            <a:off x="502920" y="4480560"/>
            <a:ext cx="8229600" cy="347472"/>
          </a:xfrm>
          <a:prstGeom prst="rect">
            <a:avLst/>
          </a:prstGeom>
          <a:noFill/>
          <a:ln/>
        </p:spPr>
        <p:txBody>
          <a:bodyPr wrap="square" rtlCol="0" anchor="ctr"/>
          <a:lstStyle/>
          <a:p>
            <a:pPr marL="0" indent="0">
              <a:buNone/>
            </a:pPr>
            <a:r>
              <a:rPr lang="en-US" sz="1000" dirty="0">
                <a:solidFill>
                  <a:srgbClr val="0D7680"/>
                </a:solidFill>
                <a:latin typeface="Calibri" pitchFamily="34" charset="0"/>
                <a:ea typeface="Calibri" pitchFamily="34" charset="-122"/>
                <a:cs typeface="Calibri" pitchFamily="34" charset="-120"/>
              </a:rPr>
              <a:t>Sex is balanced (F=51, M=49) and shows no meaningful association with either outcome.  Inclusion in formal models is optional.</a:t>
            </a:r>
            <a:endParaRPr lang="en-US" sz="1000" dirty="0"/>
          </a:p>
        </p:txBody>
      </p:sp>
      <p:pic>
        <p:nvPicPr>
          <p:cNvPr id="26" name="Picture 25" descr="A graph with blue rectangular bars&#10;&#10;AI-generated content may be incorrect.">
            <a:extLst>
              <a:ext uri="{FF2B5EF4-FFF2-40B4-BE49-F238E27FC236}">
                <a16:creationId xmlns:a16="http://schemas.microsoft.com/office/drawing/2014/main" id="{F395B839-3099-1C7E-172B-6E2A9BCDC266}"/>
              </a:ext>
            </a:extLst>
          </p:cNvPr>
          <p:cNvPicPr>
            <a:picLocks noChangeAspect="1"/>
          </p:cNvPicPr>
          <p:nvPr/>
        </p:nvPicPr>
        <p:blipFill>
          <a:blip r:embed="rId3"/>
          <a:stretch>
            <a:fillRect/>
          </a:stretch>
        </p:blipFill>
        <p:spPr>
          <a:xfrm>
            <a:off x="4645162" y="1142999"/>
            <a:ext cx="4242799" cy="3182099"/>
          </a:xfrm>
          <a:prstGeom prst="rect">
            <a:avLst/>
          </a:prstGeom>
        </p:spPr>
      </p:pic>
      <p:pic>
        <p:nvPicPr>
          <p:cNvPr id="30" name="Picture 29" descr="A graph with blue squares&#10;&#10;AI-generated content may be incorrect.">
            <a:extLst>
              <a:ext uri="{FF2B5EF4-FFF2-40B4-BE49-F238E27FC236}">
                <a16:creationId xmlns:a16="http://schemas.microsoft.com/office/drawing/2014/main" id="{F23214A9-A3B4-7F85-8BC1-9F04C594B262}"/>
              </a:ext>
            </a:extLst>
          </p:cNvPr>
          <p:cNvPicPr>
            <a:picLocks noChangeAspect="1"/>
          </p:cNvPicPr>
          <p:nvPr/>
        </p:nvPicPr>
        <p:blipFill>
          <a:blip r:embed="rId4"/>
          <a:stretch>
            <a:fillRect/>
          </a:stretch>
        </p:blipFill>
        <p:spPr>
          <a:xfrm>
            <a:off x="256040" y="1142999"/>
            <a:ext cx="4242799" cy="31820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9"/>
        </a:solidFill>
        <a:effectLst/>
      </p:bgPr>
    </p:bg>
    <p:spTree>
      <p:nvGrpSpPr>
        <p:cNvPr id="1" name="">
          <a:extLst>
            <a:ext uri="{FF2B5EF4-FFF2-40B4-BE49-F238E27FC236}">
              <a16:creationId xmlns:a16="http://schemas.microsoft.com/office/drawing/2014/main" id="{7DD426A3-B7AC-70B5-496B-968F35D849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3DC919-EEF3-B0A4-4BF8-D38F4F195F36}"/>
              </a:ext>
            </a:extLst>
          </p:cNvPr>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a:extLst>
              <a:ext uri="{FF2B5EF4-FFF2-40B4-BE49-F238E27FC236}">
                <a16:creationId xmlns:a16="http://schemas.microsoft.com/office/drawing/2014/main" id="{3F5849B1-6EBA-B9B6-0460-50127195EFDF}"/>
              </a:ext>
            </a:extLst>
          </p:cNvPr>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INTERACTION</a:t>
            </a:r>
            <a:endParaRPr lang="en-US" sz="750" dirty="0"/>
          </a:p>
        </p:txBody>
      </p:sp>
      <p:sp>
        <p:nvSpPr>
          <p:cNvPr id="4" name="Text 2">
            <a:extLst>
              <a:ext uri="{FF2B5EF4-FFF2-40B4-BE49-F238E27FC236}">
                <a16:creationId xmlns:a16="http://schemas.microsoft.com/office/drawing/2014/main" id="{A8BF33AA-11F4-939B-5C61-D23DCB663F2E}"/>
              </a:ext>
            </a:extLst>
          </p:cNvPr>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Treatment × Sex → AF</a:t>
            </a:r>
            <a:endParaRPr lang="en-US" sz="2200" dirty="0"/>
          </a:p>
        </p:txBody>
      </p:sp>
      <p:sp>
        <p:nvSpPr>
          <p:cNvPr id="5" name="Shape 3">
            <a:extLst>
              <a:ext uri="{FF2B5EF4-FFF2-40B4-BE49-F238E27FC236}">
                <a16:creationId xmlns:a16="http://schemas.microsoft.com/office/drawing/2014/main" id="{6F5B1925-18EC-4B8D-B19A-35B7B4A8F571}"/>
              </a:ext>
            </a:extLst>
          </p:cNvPr>
          <p:cNvSpPr/>
          <p:nvPr/>
        </p:nvSpPr>
        <p:spPr>
          <a:xfrm>
            <a:off x="365760" y="1078992"/>
            <a:ext cx="8412480" cy="0"/>
          </a:xfrm>
          <a:prstGeom prst="line">
            <a:avLst/>
          </a:prstGeom>
          <a:noFill/>
          <a:ln w="12700">
            <a:solidFill>
              <a:srgbClr val="DDE3EA"/>
            </a:solidFill>
            <a:prstDash val="solid"/>
          </a:ln>
        </p:spPr>
        <p:txBody>
          <a:bodyPr/>
          <a:lstStyle/>
          <a:p>
            <a:endParaRPr lang="en-US"/>
          </a:p>
        </p:txBody>
      </p:sp>
      <p:sp>
        <p:nvSpPr>
          <p:cNvPr id="8" name="Shape 5">
            <a:extLst>
              <a:ext uri="{FF2B5EF4-FFF2-40B4-BE49-F238E27FC236}">
                <a16:creationId xmlns:a16="http://schemas.microsoft.com/office/drawing/2014/main" id="{5217CCEE-1102-D404-936D-B759E66331AD}"/>
              </a:ext>
            </a:extLst>
          </p:cNvPr>
          <p:cNvSpPr/>
          <p:nvPr/>
        </p:nvSpPr>
        <p:spPr>
          <a:xfrm>
            <a:off x="6172200" y="1234440"/>
            <a:ext cx="2651760" cy="10972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9" name="Shape 6">
            <a:extLst>
              <a:ext uri="{FF2B5EF4-FFF2-40B4-BE49-F238E27FC236}">
                <a16:creationId xmlns:a16="http://schemas.microsoft.com/office/drawing/2014/main" id="{423C2C79-897E-D45B-B1AE-E56B1BC0A7DF}"/>
              </a:ext>
            </a:extLst>
          </p:cNvPr>
          <p:cNvSpPr/>
          <p:nvPr/>
        </p:nvSpPr>
        <p:spPr>
          <a:xfrm>
            <a:off x="6172200" y="1234440"/>
            <a:ext cx="64008" cy="1097280"/>
          </a:xfrm>
          <a:prstGeom prst="rect">
            <a:avLst/>
          </a:prstGeom>
          <a:solidFill>
            <a:srgbClr val="0D7680"/>
          </a:solidFill>
          <a:ln w="12700">
            <a:solidFill>
              <a:srgbClr val="0D7680"/>
            </a:solidFill>
            <a:prstDash val="solid"/>
          </a:ln>
        </p:spPr>
        <p:txBody>
          <a:bodyPr/>
          <a:lstStyle/>
          <a:p>
            <a:endParaRPr lang="en-US"/>
          </a:p>
        </p:txBody>
      </p:sp>
      <p:sp>
        <p:nvSpPr>
          <p:cNvPr id="10" name="Text 7">
            <a:extLst>
              <a:ext uri="{FF2B5EF4-FFF2-40B4-BE49-F238E27FC236}">
                <a16:creationId xmlns:a16="http://schemas.microsoft.com/office/drawing/2014/main" id="{FEB66D8B-8ACC-6A77-ECAF-35ECDAB665B0}"/>
              </a:ext>
            </a:extLst>
          </p:cNvPr>
          <p:cNvSpPr/>
          <p:nvPr/>
        </p:nvSpPr>
        <p:spPr>
          <a:xfrm>
            <a:off x="6336792" y="1403604"/>
            <a:ext cx="2423160" cy="228600"/>
          </a:xfrm>
          <a:prstGeom prst="rect">
            <a:avLst/>
          </a:prstGeom>
          <a:noFill/>
          <a:ln/>
        </p:spPr>
        <p:txBody>
          <a:bodyPr wrap="square" rtlCol="0" anchor="ctr"/>
          <a:lstStyle/>
          <a:p>
            <a:pPr marL="0" indent="0">
              <a:buNone/>
            </a:pPr>
            <a:r>
              <a:rPr lang="en-US" sz="1000" b="1" dirty="0">
                <a:solidFill>
                  <a:srgbClr val="1B2B4B"/>
                </a:solidFill>
              </a:rPr>
              <a:t>Overlapping</a:t>
            </a:r>
            <a:r>
              <a:rPr lang="zh-CN" altLang="en-US" sz="1000" b="1" dirty="0">
                <a:solidFill>
                  <a:srgbClr val="1B2B4B"/>
                </a:solidFill>
              </a:rPr>
              <a:t> </a:t>
            </a:r>
            <a:r>
              <a:rPr lang="en-US" altLang="zh-CN" sz="1000" b="1" dirty="0">
                <a:solidFill>
                  <a:srgbClr val="1B2B4B"/>
                </a:solidFill>
              </a:rPr>
              <a:t>IQRs</a:t>
            </a:r>
            <a:endParaRPr lang="en-US" sz="1000" dirty="0"/>
          </a:p>
        </p:txBody>
      </p:sp>
      <p:sp>
        <p:nvSpPr>
          <p:cNvPr id="11" name="Text 8">
            <a:extLst>
              <a:ext uri="{FF2B5EF4-FFF2-40B4-BE49-F238E27FC236}">
                <a16:creationId xmlns:a16="http://schemas.microsoft.com/office/drawing/2014/main" id="{4639A421-18D4-C29E-4687-7FC1D27E96DF}"/>
              </a:ext>
            </a:extLst>
          </p:cNvPr>
          <p:cNvSpPr/>
          <p:nvPr/>
        </p:nvSpPr>
        <p:spPr>
          <a:xfrm>
            <a:off x="6336792" y="1581912"/>
            <a:ext cx="2423160" cy="6583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Within each treatment group, AF distributions overlap substantially between females and males, suggesting no treatment × sex interaction.</a:t>
            </a:r>
            <a:endParaRPr lang="en-US" sz="850" dirty="0"/>
          </a:p>
        </p:txBody>
      </p:sp>
      <p:sp>
        <p:nvSpPr>
          <p:cNvPr id="12" name="Shape 9">
            <a:extLst>
              <a:ext uri="{FF2B5EF4-FFF2-40B4-BE49-F238E27FC236}">
                <a16:creationId xmlns:a16="http://schemas.microsoft.com/office/drawing/2014/main" id="{E6FEC5BB-3B22-6EBA-DAAF-C615DB4D26D3}"/>
              </a:ext>
            </a:extLst>
          </p:cNvPr>
          <p:cNvSpPr/>
          <p:nvPr/>
        </p:nvSpPr>
        <p:spPr>
          <a:xfrm>
            <a:off x="6172200" y="2468880"/>
            <a:ext cx="2651760" cy="10972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3" name="Shape 10">
            <a:extLst>
              <a:ext uri="{FF2B5EF4-FFF2-40B4-BE49-F238E27FC236}">
                <a16:creationId xmlns:a16="http://schemas.microsoft.com/office/drawing/2014/main" id="{1A6064C9-F0D9-97D5-0CBF-AC5698F74DFC}"/>
              </a:ext>
            </a:extLst>
          </p:cNvPr>
          <p:cNvSpPr/>
          <p:nvPr/>
        </p:nvSpPr>
        <p:spPr>
          <a:xfrm>
            <a:off x="6172200" y="2468880"/>
            <a:ext cx="64008" cy="1097280"/>
          </a:xfrm>
          <a:prstGeom prst="rect">
            <a:avLst/>
          </a:prstGeom>
          <a:solidFill>
            <a:srgbClr val="0D7680"/>
          </a:solidFill>
          <a:ln w="12700">
            <a:solidFill>
              <a:srgbClr val="0D7680"/>
            </a:solidFill>
            <a:prstDash val="solid"/>
          </a:ln>
        </p:spPr>
        <p:txBody>
          <a:bodyPr/>
          <a:lstStyle/>
          <a:p>
            <a:endParaRPr lang="en-US"/>
          </a:p>
        </p:txBody>
      </p:sp>
      <p:sp>
        <p:nvSpPr>
          <p:cNvPr id="14" name="Text 11">
            <a:extLst>
              <a:ext uri="{FF2B5EF4-FFF2-40B4-BE49-F238E27FC236}">
                <a16:creationId xmlns:a16="http://schemas.microsoft.com/office/drawing/2014/main" id="{6D063546-6EDE-8D80-7004-FCE9F72B7F24}"/>
              </a:ext>
            </a:extLst>
          </p:cNvPr>
          <p:cNvSpPr/>
          <p:nvPr/>
        </p:nvSpPr>
        <p:spPr>
          <a:xfrm>
            <a:off x="6336792" y="2633472"/>
            <a:ext cx="2423160" cy="228600"/>
          </a:xfrm>
          <a:prstGeom prst="rect">
            <a:avLst/>
          </a:prstGeom>
          <a:noFill/>
          <a:ln/>
        </p:spPr>
        <p:txBody>
          <a:bodyPr wrap="square" rtlCol="0" anchor="ctr"/>
          <a:lstStyle/>
          <a:p>
            <a:pPr marL="0" indent="0">
              <a:buNone/>
            </a:pPr>
            <a:r>
              <a:rPr lang="en-US" sz="1000" b="1" dirty="0">
                <a:solidFill>
                  <a:srgbClr val="1B2B4B"/>
                </a:solidFill>
              </a:rPr>
              <a:t>Treatment still</a:t>
            </a:r>
            <a:r>
              <a:rPr lang="zh-CN" altLang="en-US" sz="1000" b="1" dirty="0">
                <a:solidFill>
                  <a:srgbClr val="1B2B4B"/>
                </a:solidFill>
              </a:rPr>
              <a:t> </a:t>
            </a:r>
            <a:r>
              <a:rPr lang="en-US" sz="1000" b="1" dirty="0">
                <a:solidFill>
                  <a:srgbClr val="1B2B4B"/>
                </a:solidFill>
              </a:rPr>
              <a:t>dominates</a:t>
            </a:r>
            <a:endParaRPr lang="en-US" sz="1000" dirty="0"/>
          </a:p>
        </p:txBody>
      </p:sp>
      <p:sp>
        <p:nvSpPr>
          <p:cNvPr id="15" name="Text 12">
            <a:extLst>
              <a:ext uri="{FF2B5EF4-FFF2-40B4-BE49-F238E27FC236}">
                <a16:creationId xmlns:a16="http://schemas.microsoft.com/office/drawing/2014/main" id="{88DF13DE-AD41-D325-8C79-C9D453B6A14F}"/>
              </a:ext>
            </a:extLst>
          </p:cNvPr>
          <p:cNvSpPr/>
          <p:nvPr/>
        </p:nvSpPr>
        <p:spPr>
          <a:xfrm>
            <a:off x="6336792" y="2816352"/>
            <a:ext cx="2423160" cy="6583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large separation between group A and groups B/C is consistent across both sexes, confirming treatment remains the primary driver of AF.</a:t>
            </a:r>
            <a:endParaRPr lang="en-US" sz="850" dirty="0"/>
          </a:p>
        </p:txBody>
      </p:sp>
      <p:sp>
        <p:nvSpPr>
          <p:cNvPr id="16" name="Shape 13">
            <a:extLst>
              <a:ext uri="{FF2B5EF4-FFF2-40B4-BE49-F238E27FC236}">
                <a16:creationId xmlns:a16="http://schemas.microsoft.com/office/drawing/2014/main" id="{99226787-AE91-C61C-DE03-FF3F3D377E59}"/>
              </a:ext>
            </a:extLst>
          </p:cNvPr>
          <p:cNvSpPr/>
          <p:nvPr/>
        </p:nvSpPr>
        <p:spPr>
          <a:xfrm>
            <a:off x="6172200" y="3703320"/>
            <a:ext cx="2651760" cy="1097280"/>
          </a:xfrm>
          <a:prstGeom prst="rect">
            <a:avLst/>
          </a:prstGeom>
          <a:solidFill>
            <a:srgbClr val="FFFFFF"/>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4">
            <a:extLst>
              <a:ext uri="{FF2B5EF4-FFF2-40B4-BE49-F238E27FC236}">
                <a16:creationId xmlns:a16="http://schemas.microsoft.com/office/drawing/2014/main" id="{014688BE-1895-8822-7876-F64D02FBDD9B}"/>
              </a:ext>
            </a:extLst>
          </p:cNvPr>
          <p:cNvSpPr/>
          <p:nvPr/>
        </p:nvSpPr>
        <p:spPr>
          <a:xfrm>
            <a:off x="6172200" y="3703320"/>
            <a:ext cx="64008" cy="1097280"/>
          </a:xfrm>
          <a:prstGeom prst="rect">
            <a:avLst/>
          </a:prstGeom>
          <a:solidFill>
            <a:srgbClr val="0D7680"/>
          </a:solidFill>
          <a:ln w="12700">
            <a:solidFill>
              <a:srgbClr val="0D7680"/>
            </a:solidFill>
            <a:prstDash val="solid"/>
          </a:ln>
        </p:spPr>
        <p:txBody>
          <a:bodyPr/>
          <a:lstStyle/>
          <a:p>
            <a:endParaRPr lang="en-US"/>
          </a:p>
        </p:txBody>
      </p:sp>
      <p:sp>
        <p:nvSpPr>
          <p:cNvPr id="18" name="Text 15">
            <a:extLst>
              <a:ext uri="{FF2B5EF4-FFF2-40B4-BE49-F238E27FC236}">
                <a16:creationId xmlns:a16="http://schemas.microsoft.com/office/drawing/2014/main" id="{08F7CD4E-0599-B294-C33D-E95F618039E5}"/>
              </a:ext>
            </a:extLst>
          </p:cNvPr>
          <p:cNvSpPr/>
          <p:nvPr/>
        </p:nvSpPr>
        <p:spPr>
          <a:xfrm>
            <a:off x="6336792" y="3867912"/>
            <a:ext cx="2423160" cy="228600"/>
          </a:xfrm>
          <a:prstGeom prst="rect">
            <a:avLst/>
          </a:prstGeom>
          <a:noFill/>
          <a:ln/>
        </p:spPr>
        <p:txBody>
          <a:bodyPr wrap="square" rtlCol="0" anchor="ctr"/>
          <a:lstStyle/>
          <a:p>
            <a:pPr marL="0" indent="0">
              <a:buNone/>
            </a:pPr>
            <a:r>
              <a:rPr lang="en-US" sz="1000" b="1" dirty="0">
                <a:solidFill>
                  <a:srgbClr val="1B2B4B"/>
                </a:solidFill>
              </a:rPr>
              <a:t>Modelling implication</a:t>
            </a:r>
            <a:endParaRPr lang="en-US" sz="1000" dirty="0"/>
          </a:p>
        </p:txBody>
      </p:sp>
      <p:sp>
        <p:nvSpPr>
          <p:cNvPr id="19" name="Text 16">
            <a:extLst>
              <a:ext uri="{FF2B5EF4-FFF2-40B4-BE49-F238E27FC236}">
                <a16:creationId xmlns:a16="http://schemas.microsoft.com/office/drawing/2014/main" id="{8ECE7675-0FF9-5E60-F885-E387E5DEA92E}"/>
              </a:ext>
            </a:extLst>
          </p:cNvPr>
          <p:cNvSpPr/>
          <p:nvPr/>
        </p:nvSpPr>
        <p:spPr>
          <a:xfrm>
            <a:off x="6336792" y="4050792"/>
            <a:ext cx="2423160" cy="6583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Sex does not appear to modify the treatment effect on AF. A treatment × sex interaction term is unlikely to be needed in the AF model.</a:t>
            </a:r>
            <a:endParaRPr lang="en-US" sz="850" dirty="0"/>
          </a:p>
        </p:txBody>
      </p:sp>
      <p:pic>
        <p:nvPicPr>
          <p:cNvPr id="21" name="Picture 20">
            <a:extLst>
              <a:ext uri="{FF2B5EF4-FFF2-40B4-BE49-F238E27FC236}">
                <a16:creationId xmlns:a16="http://schemas.microsoft.com/office/drawing/2014/main" id="{0EB9DE2F-63E3-A858-4146-E09E00D8FAF5}"/>
              </a:ext>
            </a:extLst>
          </p:cNvPr>
          <p:cNvPicPr>
            <a:picLocks noChangeAspect="1"/>
          </p:cNvPicPr>
          <p:nvPr/>
        </p:nvPicPr>
        <p:blipFill>
          <a:blip r:embed="rId3"/>
          <a:srcRect/>
          <a:stretch/>
        </p:blipFill>
        <p:spPr>
          <a:xfrm>
            <a:off x="384048" y="1179577"/>
            <a:ext cx="5453505" cy="3635670"/>
          </a:xfrm>
          <a:prstGeom prst="rect">
            <a:avLst/>
          </a:prstGeom>
        </p:spPr>
      </p:pic>
      <p:sp>
        <p:nvSpPr>
          <p:cNvPr id="22" name="Shape 8">
            <a:extLst>
              <a:ext uri="{FF2B5EF4-FFF2-40B4-BE49-F238E27FC236}">
                <a16:creationId xmlns:a16="http://schemas.microsoft.com/office/drawing/2014/main" id="{D3BF3769-FCA0-0FA0-1515-05070636649B}"/>
              </a:ext>
            </a:extLst>
          </p:cNvPr>
          <p:cNvSpPr/>
          <p:nvPr/>
        </p:nvSpPr>
        <p:spPr>
          <a:xfrm>
            <a:off x="5998464" y="1179576"/>
            <a:ext cx="0" cy="3635669"/>
          </a:xfrm>
          <a:prstGeom prst="line">
            <a:avLst/>
          </a:prstGeom>
          <a:noFill/>
          <a:ln w="12700">
            <a:solidFill>
              <a:srgbClr val="DDE3EA"/>
            </a:solidFill>
            <a:prstDash val="dash"/>
          </a:ln>
        </p:spPr>
        <p:txBody>
          <a:bodyPr/>
          <a:lstStyle/>
          <a:p>
            <a:endParaRPr lang="en-US"/>
          </a:p>
        </p:txBody>
      </p:sp>
    </p:spTree>
    <p:extLst>
      <p:ext uri="{BB962C8B-B14F-4D97-AF65-F5344CB8AC3E}">
        <p14:creationId xmlns:p14="http://schemas.microsoft.com/office/powerpoint/2010/main" val="781971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GENETICS</a:t>
            </a:r>
            <a:endParaRPr lang="en-US" sz="750" dirty="0"/>
          </a:p>
        </p:txBody>
      </p:sp>
      <p:sp>
        <p:nvSpPr>
          <p:cNvPr id="4" name="Text 2"/>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SNP Variables — Additive Encoding &amp; EDA Summary</a:t>
            </a:r>
            <a:endParaRPr lang="en-US" sz="2200" dirty="0"/>
          </a:p>
        </p:txBody>
      </p:sp>
      <p:sp>
        <p:nvSpPr>
          <p:cNvPr id="5" name="Shape 3"/>
          <p:cNvSpPr/>
          <p:nvPr/>
        </p:nvSpPr>
        <p:spPr>
          <a:xfrm>
            <a:off x="365760" y="1078992"/>
            <a:ext cx="8412480" cy="0"/>
          </a:xfrm>
          <a:prstGeom prst="line">
            <a:avLst/>
          </a:prstGeom>
          <a:noFill/>
          <a:ln w="12700">
            <a:solidFill>
              <a:srgbClr val="DDE3EA"/>
            </a:solidFill>
            <a:prstDash val="solid"/>
          </a:ln>
        </p:spPr>
        <p:txBody>
          <a:bodyPr/>
          <a:lstStyle/>
          <a:p>
            <a:endParaRPr lang="en-US"/>
          </a:p>
        </p:txBody>
      </p:sp>
      <p:sp>
        <p:nvSpPr>
          <p:cNvPr id="6" name="Text 4"/>
          <p:cNvSpPr/>
          <p:nvPr/>
        </p:nvSpPr>
        <p:spPr>
          <a:xfrm>
            <a:off x="320040" y="1170432"/>
            <a:ext cx="4114800" cy="274320"/>
          </a:xfrm>
          <a:prstGeom prst="rect">
            <a:avLst/>
          </a:prstGeom>
          <a:noFill/>
          <a:ln/>
        </p:spPr>
        <p:txBody>
          <a:bodyPr wrap="square" rtlCol="0" anchor="ctr"/>
          <a:lstStyle/>
          <a:p>
            <a:pPr marL="0" indent="0">
              <a:buNone/>
            </a:pPr>
            <a:r>
              <a:rPr lang="en-US" sz="1100" b="1" dirty="0">
                <a:solidFill>
                  <a:srgbClr val="1B2B4B"/>
                </a:solidFill>
              </a:rPr>
              <a:t>Additive Genetic Model</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508760"/>
          <a:ext cx="4114800" cy="1280160"/>
        </p:xfrm>
        <a:graphic>
          <a:graphicData uri="http://schemas.openxmlformats.org/drawingml/2006/table">
            <a:tbl>
              <a:tblPr/>
              <a:tblGrid>
                <a:gridCol w="822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200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Dosage</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B4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Genotype (example: ref = A)</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B4B"/>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Meaning</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B2B4B"/>
                    </a:solidFill>
                  </a:tcPr>
                </a:tc>
                <a:extLst>
                  <a:ext uri="{0D108BD9-81ED-4DB2-BD59-A6C34878D82A}">
                    <a16:rowId xmlns:a16="http://schemas.microsoft.com/office/drawing/2014/main" val="10000"/>
                  </a:ext>
                </a:extLst>
              </a:tr>
              <a:tr h="320040">
                <a:tc>
                  <a:txBody>
                    <a:bodyPr/>
                    <a:lstStyle/>
                    <a:p>
                      <a:pPr marL="0" indent="0" algn="ctr">
                        <a:buNone/>
                      </a:pPr>
                      <a:r>
                        <a:rPr lang="en-US" sz="1000" b="1" dirty="0">
                          <a:solidFill>
                            <a:srgbClr val="0D768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AA — homozygous reference</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No alt alleles</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lgn="ctr">
                        <a:buNone/>
                      </a:pPr>
                      <a:r>
                        <a:rPr lang="en-US" sz="1000" b="1" dirty="0">
                          <a:solidFill>
                            <a:srgbClr val="E8A83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AC — heterozygous</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One alt allele</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lgn="ctr">
                        <a:buNone/>
                      </a:pPr>
                      <a:r>
                        <a:rPr lang="en-US" sz="1000" b="1" dirty="0">
                          <a:solidFill>
                            <a:srgbClr val="C0392B"/>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CC — homozygous alternate</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Two alt alleles</a:t>
                      </a:r>
                      <a:endParaRPr lang="en-US" sz="1000" dirty="0">
                        <a:latin typeface="Calibri" charset="0"/>
                        <a:ea typeface="Calibri" charset="0"/>
                        <a:cs typeface="Calibri" charset="0"/>
                      </a:endParaRPr>
                    </a:p>
                  </a:txBody>
                  <a:tcP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320040" y="2880360"/>
            <a:ext cx="4114800" cy="82296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50 SNPs encoded (rs123456 excluded — monomorphic)</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Missing values: none</a:t>
            </a:r>
            <a:endParaRPr lang="en-US" sz="950" dirty="0"/>
          </a:p>
          <a:p>
            <a:pPr marL="0" indent="0">
              <a:buNone/>
            </a:pPr>
            <a:r>
              <a:rPr lang="en-US" sz="950" dirty="0">
                <a:solidFill>
                  <a:srgbClr val="64748B"/>
                </a:solidFill>
                <a:latin typeface="Calibri" pitchFamily="34" charset="0"/>
                <a:ea typeface="Calibri" pitchFamily="34" charset="-122"/>
                <a:cs typeface="Calibri" pitchFamily="34" charset="-120"/>
              </a:rPr>
              <a:t>Dominant genotype: heterozygous (dosage = 1) across most SNPs</a:t>
            </a:r>
            <a:endParaRPr lang="en-US" sz="950" dirty="0"/>
          </a:p>
        </p:txBody>
      </p:sp>
      <p:sp>
        <p:nvSpPr>
          <p:cNvPr id="12" name="Shape 8"/>
          <p:cNvSpPr/>
          <p:nvPr/>
        </p:nvSpPr>
        <p:spPr>
          <a:xfrm>
            <a:off x="4480560" y="1170432"/>
            <a:ext cx="0" cy="3200400"/>
          </a:xfrm>
          <a:prstGeom prst="line">
            <a:avLst/>
          </a:prstGeom>
          <a:noFill/>
          <a:ln w="12700">
            <a:solidFill>
              <a:srgbClr val="DDE3EA"/>
            </a:solidFill>
            <a:prstDash val="dash"/>
          </a:ln>
        </p:spPr>
        <p:txBody>
          <a:bodyPr/>
          <a:lstStyle/>
          <a:p>
            <a:endParaRPr lang="en-US"/>
          </a:p>
        </p:txBody>
      </p:sp>
      <p:sp>
        <p:nvSpPr>
          <p:cNvPr id="13" name="Shape 9"/>
          <p:cNvSpPr/>
          <p:nvPr/>
        </p:nvSpPr>
        <p:spPr>
          <a:xfrm>
            <a:off x="320040" y="3794760"/>
            <a:ext cx="4005072" cy="900684"/>
          </a:xfrm>
          <a:prstGeom prst="rect">
            <a:avLst/>
          </a:prstGeom>
          <a:solidFill>
            <a:srgbClr val="EEF7F7"/>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4" name="Text 10"/>
          <p:cNvSpPr/>
          <p:nvPr/>
        </p:nvSpPr>
        <p:spPr>
          <a:xfrm>
            <a:off x="475488" y="3826764"/>
            <a:ext cx="3758184" cy="822960"/>
          </a:xfrm>
          <a:prstGeom prst="rect">
            <a:avLst/>
          </a:prstGeom>
          <a:noFill/>
          <a:ln/>
        </p:spPr>
        <p:txBody>
          <a:bodyPr wrap="square" rtlCol="0" anchor="ctr"/>
          <a:lstStyle/>
          <a:p>
            <a:pPr marL="0" indent="0">
              <a:buNone/>
            </a:pPr>
            <a:r>
              <a:rPr lang="en-US" sz="900" i="1" dirty="0">
                <a:solidFill>
                  <a:srgbClr val="0D7680"/>
                </a:solidFill>
              </a:rPr>
              <a:t>Most SNPs in this sample are dominated by heterozygous carriers (dosage = 1), with relatively few participants in the homozygous alternate group (dosage = 2), meaning effect estimates at dosage 2 should be interpreted with caution due to small cell sizes.</a:t>
            </a:r>
            <a:endParaRPr lang="en-US" sz="900" dirty="0"/>
          </a:p>
        </p:txBody>
      </p:sp>
      <p:pic>
        <p:nvPicPr>
          <p:cNvPr id="18" name="Picture 17">
            <a:extLst>
              <a:ext uri="{FF2B5EF4-FFF2-40B4-BE49-F238E27FC236}">
                <a16:creationId xmlns:a16="http://schemas.microsoft.com/office/drawing/2014/main" id="{0A9C7611-AB72-45E0-6D5C-F56887CFCE64}"/>
              </a:ext>
            </a:extLst>
          </p:cNvPr>
          <p:cNvPicPr>
            <a:picLocks noChangeAspect="1"/>
          </p:cNvPicPr>
          <p:nvPr/>
        </p:nvPicPr>
        <p:blipFill>
          <a:blip r:embed="rId3"/>
          <a:srcRect/>
          <a:stretch/>
        </p:blipFill>
        <p:spPr>
          <a:xfrm>
            <a:off x="4677156" y="1191009"/>
            <a:ext cx="4206234" cy="36804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F0F08-CE2B-C357-F5A2-08EDB4AE1E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4BC5C1-DFAB-DF5A-4749-631FADC4D552}"/>
              </a:ext>
            </a:extLst>
          </p:cNvPr>
          <p:cNvSpPr/>
          <p:nvPr/>
        </p:nvSpPr>
        <p:spPr>
          <a:xfrm>
            <a:off x="365760" y="201168"/>
            <a:ext cx="1463040" cy="256032"/>
          </a:xfrm>
          <a:prstGeom prst="rect">
            <a:avLst/>
          </a:prstGeom>
          <a:solidFill>
            <a:srgbClr val="0D7680"/>
          </a:solidFill>
          <a:ln w="12700">
            <a:solidFill>
              <a:srgbClr val="0D7680"/>
            </a:solidFill>
            <a:prstDash val="solid"/>
          </a:ln>
        </p:spPr>
        <p:txBody>
          <a:bodyPr/>
          <a:lstStyle/>
          <a:p>
            <a:endParaRPr lang="en-US"/>
          </a:p>
        </p:txBody>
      </p:sp>
      <p:sp>
        <p:nvSpPr>
          <p:cNvPr id="3" name="Text 1">
            <a:extLst>
              <a:ext uri="{FF2B5EF4-FFF2-40B4-BE49-F238E27FC236}">
                <a16:creationId xmlns:a16="http://schemas.microsoft.com/office/drawing/2014/main" id="{82580636-8C55-9285-05B1-B2201E777699}"/>
              </a:ext>
            </a:extLst>
          </p:cNvPr>
          <p:cNvSpPr/>
          <p:nvPr/>
        </p:nvSpPr>
        <p:spPr>
          <a:xfrm>
            <a:off x="365760" y="201168"/>
            <a:ext cx="1463040" cy="256032"/>
          </a:xfrm>
          <a:prstGeom prst="rect">
            <a:avLst/>
          </a:prstGeom>
          <a:noFill/>
          <a:ln/>
        </p:spPr>
        <p:txBody>
          <a:bodyPr wrap="square" lIns="0" tIns="0" rIns="0" bIns="0" rtlCol="0" anchor="ctr"/>
          <a:lstStyle/>
          <a:p>
            <a:pPr marL="0" indent="0" algn="ctr">
              <a:buNone/>
            </a:pPr>
            <a:r>
              <a:rPr lang="en-US" sz="750" b="1" dirty="0">
                <a:solidFill>
                  <a:srgbClr val="FFFFFF"/>
                </a:solidFill>
              </a:rPr>
              <a:t>COVARIATES</a:t>
            </a:r>
            <a:endParaRPr lang="en-US" sz="750" dirty="0"/>
          </a:p>
        </p:txBody>
      </p:sp>
      <p:sp>
        <p:nvSpPr>
          <p:cNvPr id="4" name="Text 2">
            <a:extLst>
              <a:ext uri="{FF2B5EF4-FFF2-40B4-BE49-F238E27FC236}">
                <a16:creationId xmlns:a16="http://schemas.microsoft.com/office/drawing/2014/main" id="{4FCF84DF-F17D-608D-3CBA-DF0B916ECE2E}"/>
              </a:ext>
            </a:extLst>
          </p:cNvPr>
          <p:cNvSpPr/>
          <p:nvPr/>
        </p:nvSpPr>
        <p:spPr>
          <a:xfrm>
            <a:off x="365760" y="530352"/>
            <a:ext cx="8412480" cy="502920"/>
          </a:xfrm>
          <a:prstGeom prst="rect">
            <a:avLst/>
          </a:prstGeom>
          <a:noFill/>
          <a:ln/>
        </p:spPr>
        <p:txBody>
          <a:bodyPr wrap="square" rtlCol="0" anchor="ctr"/>
          <a:lstStyle/>
          <a:p>
            <a:pPr marL="0" indent="0">
              <a:buNone/>
            </a:pPr>
            <a:r>
              <a:rPr lang="en-US" sz="2200" b="1" dirty="0">
                <a:solidFill>
                  <a:srgbClr val="1B2B4B"/>
                </a:solidFill>
                <a:latin typeface="Cambria" pitchFamily="34" charset="0"/>
                <a:ea typeface="Cambria" pitchFamily="34" charset="-122"/>
                <a:cs typeface="Cambria" pitchFamily="34" charset="-120"/>
              </a:rPr>
              <a:t>The</a:t>
            </a:r>
            <a:r>
              <a:rPr lang="zh-CN" altLang="en-US" sz="2200" b="1" dirty="0">
                <a:solidFill>
                  <a:srgbClr val="1B2B4B"/>
                </a:solidFill>
                <a:latin typeface="Cambria" pitchFamily="34" charset="0"/>
                <a:ea typeface="Cambria" pitchFamily="34" charset="-122"/>
                <a:cs typeface="Cambria" pitchFamily="34" charset="-120"/>
              </a:rPr>
              <a:t> </a:t>
            </a:r>
            <a:r>
              <a:rPr lang="en-US" altLang="zh-CN" sz="2200" b="1" dirty="0">
                <a:solidFill>
                  <a:srgbClr val="1B2B4B"/>
                </a:solidFill>
                <a:latin typeface="Cambria" pitchFamily="34" charset="0"/>
                <a:ea typeface="Cambria" pitchFamily="34" charset="-122"/>
                <a:cs typeface="Cambria" pitchFamily="34" charset="-120"/>
              </a:rPr>
              <a:t>Role</a:t>
            </a:r>
            <a:r>
              <a:rPr lang="zh-CN" altLang="en-US" sz="2200" b="1" dirty="0">
                <a:solidFill>
                  <a:srgbClr val="1B2B4B"/>
                </a:solidFill>
                <a:latin typeface="Cambria" pitchFamily="34" charset="0"/>
                <a:ea typeface="Cambria" pitchFamily="34" charset="-122"/>
                <a:cs typeface="Cambria" pitchFamily="34" charset="-120"/>
              </a:rPr>
              <a:t> </a:t>
            </a:r>
            <a:r>
              <a:rPr lang="en-US" altLang="zh-CN" sz="2200" b="1" dirty="0">
                <a:solidFill>
                  <a:srgbClr val="1B2B4B"/>
                </a:solidFill>
                <a:latin typeface="Cambria" pitchFamily="34" charset="0"/>
                <a:ea typeface="Cambria" pitchFamily="34" charset="-122"/>
                <a:cs typeface="Cambria" pitchFamily="34" charset="-120"/>
              </a:rPr>
              <a:t>of</a:t>
            </a:r>
            <a:r>
              <a:rPr lang="zh-CN" altLang="en-US" sz="2200" b="1" dirty="0">
                <a:solidFill>
                  <a:srgbClr val="1B2B4B"/>
                </a:solidFill>
                <a:latin typeface="Cambria" pitchFamily="34" charset="0"/>
                <a:ea typeface="Cambria" pitchFamily="34" charset="-122"/>
                <a:cs typeface="Cambria" pitchFamily="34" charset="-120"/>
              </a:rPr>
              <a:t> </a:t>
            </a:r>
            <a:r>
              <a:rPr lang="en-US" sz="2200" b="1" dirty="0">
                <a:solidFill>
                  <a:srgbClr val="1B2B4B"/>
                </a:solidFill>
                <a:latin typeface="Cambria" pitchFamily="34" charset="0"/>
                <a:ea typeface="Cambria" pitchFamily="34" charset="-122"/>
                <a:cs typeface="Cambria" pitchFamily="34" charset="-120"/>
              </a:rPr>
              <a:t>SNPs</a:t>
            </a:r>
            <a:endParaRPr lang="en-US" sz="2200" dirty="0"/>
          </a:p>
        </p:txBody>
      </p:sp>
      <p:sp>
        <p:nvSpPr>
          <p:cNvPr id="5" name="Shape 3">
            <a:extLst>
              <a:ext uri="{FF2B5EF4-FFF2-40B4-BE49-F238E27FC236}">
                <a16:creationId xmlns:a16="http://schemas.microsoft.com/office/drawing/2014/main" id="{D8E8DDD5-96A0-C224-ABD1-B1137951CD27}"/>
              </a:ext>
            </a:extLst>
          </p:cNvPr>
          <p:cNvSpPr/>
          <p:nvPr/>
        </p:nvSpPr>
        <p:spPr>
          <a:xfrm>
            <a:off x="365760" y="1078992"/>
            <a:ext cx="8412480" cy="0"/>
          </a:xfrm>
          <a:prstGeom prst="line">
            <a:avLst/>
          </a:prstGeom>
          <a:noFill/>
          <a:ln w="12700">
            <a:solidFill>
              <a:srgbClr val="DDE3EA"/>
            </a:solidFill>
            <a:prstDash val="solid"/>
          </a:ln>
        </p:spPr>
        <p:txBody>
          <a:bodyPr/>
          <a:lstStyle/>
          <a:p>
            <a:endParaRPr lang="en-US"/>
          </a:p>
        </p:txBody>
      </p:sp>
      <p:sp>
        <p:nvSpPr>
          <p:cNvPr id="12" name="Shape 8">
            <a:extLst>
              <a:ext uri="{FF2B5EF4-FFF2-40B4-BE49-F238E27FC236}">
                <a16:creationId xmlns:a16="http://schemas.microsoft.com/office/drawing/2014/main" id="{EF97A965-4906-ABE5-8B3A-017F012E4DCA}"/>
              </a:ext>
            </a:extLst>
          </p:cNvPr>
          <p:cNvSpPr/>
          <p:nvPr/>
        </p:nvSpPr>
        <p:spPr>
          <a:xfrm>
            <a:off x="4572000" y="1143000"/>
            <a:ext cx="0" cy="3108960"/>
          </a:xfrm>
          <a:prstGeom prst="line">
            <a:avLst/>
          </a:prstGeom>
          <a:noFill/>
          <a:ln w="12700">
            <a:solidFill>
              <a:srgbClr val="DDE3EA"/>
            </a:solidFill>
            <a:prstDash val="dash"/>
          </a:ln>
        </p:spPr>
        <p:txBody>
          <a:bodyPr/>
          <a:lstStyle/>
          <a:p>
            <a:endParaRPr lang="en-US"/>
          </a:p>
        </p:txBody>
      </p:sp>
      <p:sp>
        <p:nvSpPr>
          <p:cNvPr id="13" name="Shape 9">
            <a:extLst>
              <a:ext uri="{FF2B5EF4-FFF2-40B4-BE49-F238E27FC236}">
                <a16:creationId xmlns:a16="http://schemas.microsoft.com/office/drawing/2014/main" id="{FC9B9C87-F021-383D-847D-4DC5CED99EBD}"/>
              </a:ext>
            </a:extLst>
          </p:cNvPr>
          <p:cNvSpPr/>
          <p:nvPr/>
        </p:nvSpPr>
        <p:spPr>
          <a:xfrm>
            <a:off x="320040" y="4407408"/>
            <a:ext cx="8503920" cy="502920"/>
          </a:xfrm>
          <a:prstGeom prst="rect">
            <a:avLst/>
          </a:prstGeom>
          <a:solidFill>
            <a:srgbClr val="EEF7F7"/>
          </a:solidFill>
          <a:ln w="12700">
            <a:solidFill>
              <a:srgbClr val="DDE3EA"/>
            </a:solidFill>
            <a:prstDash val="solid"/>
          </a:ln>
          <a:effectLst>
            <a:outerShdw blurRad="101600" dist="38100" dir="8100000" algn="bl" rotWithShape="0">
              <a:srgbClr val="000000">
                <a:alpha val="10000"/>
              </a:srgbClr>
            </a:outerShdw>
          </a:effectLst>
        </p:spPr>
        <p:txBody>
          <a:bodyPr/>
          <a:lstStyle/>
          <a:p>
            <a:endParaRPr lang="en-US"/>
          </a:p>
        </p:txBody>
      </p:sp>
      <p:sp>
        <p:nvSpPr>
          <p:cNvPr id="14" name="Text 10">
            <a:extLst>
              <a:ext uri="{FF2B5EF4-FFF2-40B4-BE49-F238E27FC236}">
                <a16:creationId xmlns:a16="http://schemas.microsoft.com/office/drawing/2014/main" id="{40747E4C-F178-3F5C-DE8D-BC33869F42B8}"/>
              </a:ext>
            </a:extLst>
          </p:cNvPr>
          <p:cNvSpPr/>
          <p:nvPr/>
        </p:nvSpPr>
        <p:spPr>
          <a:xfrm>
            <a:off x="502920" y="4480560"/>
            <a:ext cx="8229600" cy="347472"/>
          </a:xfrm>
          <a:prstGeom prst="rect">
            <a:avLst/>
          </a:prstGeom>
          <a:noFill/>
          <a:ln/>
        </p:spPr>
        <p:txBody>
          <a:bodyPr wrap="square" rtlCol="0" anchor="ctr"/>
          <a:lstStyle/>
          <a:p>
            <a:pPr marL="0" indent="0">
              <a:buNone/>
            </a:pPr>
            <a:r>
              <a:rPr lang="en-US" sz="1000" dirty="0">
                <a:solidFill>
                  <a:srgbClr val="0D7680"/>
                </a:solidFill>
                <a:latin typeface="Calibri" pitchFamily="34" charset="0"/>
                <a:ea typeface="Calibri" pitchFamily="34" charset="-122"/>
                <a:cs typeface="Calibri" pitchFamily="34" charset="-120"/>
              </a:rPr>
              <a:t>All SNP correlations with AF are weak (|r| ≤ 0.2</a:t>
            </a:r>
            <a:r>
              <a:rPr lang="en-US" altLang="zh-CN" sz="1000" dirty="0">
                <a:solidFill>
                  <a:srgbClr val="0D7680"/>
                </a:solidFill>
                <a:latin typeface="Calibri" pitchFamily="34" charset="0"/>
                <a:ea typeface="Calibri" pitchFamily="34" charset="-122"/>
                <a:cs typeface="Calibri" pitchFamily="34" charset="-120"/>
              </a:rPr>
              <a:t>5</a:t>
            </a:r>
            <a:r>
              <a:rPr lang="en-US" sz="1000" dirty="0">
                <a:solidFill>
                  <a:srgbClr val="0D7680"/>
                </a:solidFill>
                <a:latin typeface="Calibri" pitchFamily="34" charset="0"/>
                <a:ea typeface="Calibri" pitchFamily="34" charset="-122"/>
                <a:cs typeface="Calibri" pitchFamily="34" charset="-120"/>
              </a:rPr>
              <a:t>), with rs19486 showing the strongest negative association. For PR, rs91154 shows the most consistent dosage-dependent decline, while rs56579 shows a sharp increase at dosage 2 — both warrant further investigation in formal modelling.</a:t>
            </a:r>
            <a:endParaRPr lang="en-US" sz="1000" dirty="0"/>
          </a:p>
        </p:txBody>
      </p:sp>
      <p:pic>
        <p:nvPicPr>
          <p:cNvPr id="6" name="Picture 5" descr="A graph with numbers and a bar chart&#10;&#10;AI-generated content may be incorrect.">
            <a:extLst>
              <a:ext uri="{FF2B5EF4-FFF2-40B4-BE49-F238E27FC236}">
                <a16:creationId xmlns:a16="http://schemas.microsoft.com/office/drawing/2014/main" id="{B46D9381-3795-13DA-AE71-DFD2749872E6}"/>
              </a:ext>
            </a:extLst>
          </p:cNvPr>
          <p:cNvPicPr>
            <a:picLocks noChangeAspect="1"/>
          </p:cNvPicPr>
          <p:nvPr/>
        </p:nvPicPr>
        <p:blipFill>
          <a:blip r:embed="rId3"/>
          <a:stretch>
            <a:fillRect/>
          </a:stretch>
        </p:blipFill>
        <p:spPr>
          <a:xfrm>
            <a:off x="256038" y="1152144"/>
            <a:ext cx="4242799" cy="3182099"/>
          </a:xfrm>
          <a:prstGeom prst="rect">
            <a:avLst/>
          </a:prstGeom>
        </p:spPr>
      </p:pic>
      <p:pic>
        <p:nvPicPr>
          <p:cNvPr id="15" name="Picture 14">
            <a:extLst>
              <a:ext uri="{FF2B5EF4-FFF2-40B4-BE49-F238E27FC236}">
                <a16:creationId xmlns:a16="http://schemas.microsoft.com/office/drawing/2014/main" id="{8970310D-B94D-4FCB-B25C-59137F8BB262}"/>
              </a:ext>
            </a:extLst>
          </p:cNvPr>
          <p:cNvPicPr>
            <a:picLocks noChangeAspect="1"/>
          </p:cNvPicPr>
          <p:nvPr/>
        </p:nvPicPr>
        <p:blipFill>
          <a:blip r:embed="rId4"/>
          <a:srcRect/>
          <a:stretch/>
        </p:blipFill>
        <p:spPr>
          <a:xfrm>
            <a:off x="4645162" y="1152144"/>
            <a:ext cx="4211718" cy="3172953"/>
          </a:xfrm>
          <a:prstGeom prst="rect">
            <a:avLst/>
          </a:prstGeom>
        </p:spPr>
      </p:pic>
    </p:spTree>
    <p:extLst>
      <p:ext uri="{BB962C8B-B14F-4D97-AF65-F5344CB8AC3E}">
        <p14:creationId xmlns:p14="http://schemas.microsoft.com/office/powerpoint/2010/main" val="3389599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B2B4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7680"/>
          </a:solidFill>
          <a:ln w="12700">
            <a:solidFill>
              <a:srgbClr val="0D7680"/>
            </a:solidFill>
            <a:prstDash val="solid"/>
          </a:ln>
        </p:spPr>
        <p:txBody>
          <a:bodyPr/>
          <a:lstStyle/>
          <a:p>
            <a:endParaRPr lang="en-US"/>
          </a:p>
        </p:txBody>
      </p:sp>
      <p:sp>
        <p:nvSpPr>
          <p:cNvPr id="3" name="Shape 1"/>
          <p:cNvSpPr/>
          <p:nvPr/>
        </p:nvSpPr>
        <p:spPr>
          <a:xfrm>
            <a:off x="164592" y="0"/>
            <a:ext cx="64008" cy="5143500"/>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502920" y="228600"/>
            <a:ext cx="8321040" cy="50292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Summary</a:t>
            </a:r>
            <a:r>
              <a:rPr lang="zh-CN" altLang="en-US" sz="2200" b="1" dirty="0">
                <a:solidFill>
                  <a:srgbClr val="FFFFFF"/>
                </a:solidFill>
                <a:latin typeface="Cambria" pitchFamily="34" charset="0"/>
                <a:ea typeface="Cambria" pitchFamily="34" charset="-122"/>
                <a:cs typeface="Cambria" pitchFamily="34" charset="-120"/>
              </a:rPr>
              <a:t> </a:t>
            </a:r>
            <a:r>
              <a:rPr lang="en-US" sz="2200" b="1" dirty="0">
                <a:solidFill>
                  <a:srgbClr val="FFFFFF"/>
                </a:solidFill>
                <a:latin typeface="Cambria" pitchFamily="34" charset="0"/>
                <a:ea typeface="Cambria" pitchFamily="34" charset="-122"/>
                <a:cs typeface="Cambria" pitchFamily="34" charset="-120"/>
              </a:rPr>
              <a:t>&amp; Modelling Implications</a:t>
            </a:r>
            <a:endParaRPr lang="en-US" sz="2200" dirty="0"/>
          </a:p>
        </p:txBody>
      </p:sp>
      <p:sp>
        <p:nvSpPr>
          <p:cNvPr id="5" name="Shape 3"/>
          <p:cNvSpPr/>
          <p:nvPr/>
        </p:nvSpPr>
        <p:spPr>
          <a:xfrm>
            <a:off x="502920" y="777240"/>
            <a:ext cx="8229600" cy="0"/>
          </a:xfrm>
          <a:prstGeom prst="line">
            <a:avLst/>
          </a:prstGeom>
          <a:noFill/>
          <a:ln w="12700">
            <a:solidFill>
              <a:srgbClr val="0D7680"/>
            </a:solidFill>
            <a:prstDash val="solid"/>
          </a:ln>
        </p:spPr>
        <p:txBody>
          <a:bodyPr/>
          <a:lstStyle/>
          <a:p>
            <a:endParaRPr lang="en-US"/>
          </a:p>
        </p:txBody>
      </p:sp>
      <p:sp>
        <p:nvSpPr>
          <p:cNvPr id="6" name="Shape 4"/>
          <p:cNvSpPr/>
          <p:nvPr/>
        </p:nvSpPr>
        <p:spPr>
          <a:xfrm>
            <a:off x="502920" y="868680"/>
            <a:ext cx="2743200" cy="292608"/>
          </a:xfrm>
          <a:prstGeom prst="rect">
            <a:avLst/>
          </a:prstGeom>
          <a:solidFill>
            <a:srgbClr val="0D7680"/>
          </a:solidFill>
          <a:ln w="12700">
            <a:solidFill>
              <a:srgbClr val="0D7680"/>
            </a:solidFill>
            <a:prstDash val="solid"/>
          </a:ln>
        </p:spPr>
        <p:txBody>
          <a:bodyPr/>
          <a:lstStyle/>
          <a:p>
            <a:endParaRPr lang="en-US"/>
          </a:p>
        </p:txBody>
      </p:sp>
      <p:sp>
        <p:nvSpPr>
          <p:cNvPr id="7" name="Text 5"/>
          <p:cNvSpPr/>
          <p:nvPr/>
        </p:nvSpPr>
        <p:spPr>
          <a:xfrm>
            <a:off x="502920" y="868680"/>
            <a:ext cx="2743200" cy="292608"/>
          </a:xfrm>
          <a:prstGeom prst="rect">
            <a:avLst/>
          </a:prstGeom>
          <a:noFill/>
          <a:ln/>
        </p:spPr>
        <p:txBody>
          <a:bodyPr wrap="square" lIns="0" tIns="0" rIns="0" bIns="0" rtlCol="0" anchor="ctr"/>
          <a:lstStyle/>
          <a:p>
            <a:pPr marL="0" indent="0" algn="ctr">
              <a:buNone/>
            </a:pPr>
            <a:r>
              <a:rPr lang="en-US" sz="1100" b="1" dirty="0">
                <a:solidFill>
                  <a:srgbClr val="FFFFFF"/>
                </a:solidFill>
              </a:rPr>
              <a:t>AF Model</a:t>
            </a:r>
            <a:endParaRPr lang="en-US" sz="1100" dirty="0"/>
          </a:p>
        </p:txBody>
      </p:sp>
      <p:sp>
        <p:nvSpPr>
          <p:cNvPr id="8" name="Text 6"/>
          <p:cNvSpPr/>
          <p:nvPr/>
        </p:nvSpPr>
        <p:spPr>
          <a:xfrm>
            <a:off x="517496" y="1264157"/>
            <a:ext cx="2697480" cy="2228850"/>
          </a:xfrm>
          <a:prstGeom prst="rect">
            <a:avLst/>
          </a:prstGeom>
          <a:noFill/>
          <a:ln/>
        </p:spPr>
        <p:txBody>
          <a:bodyPr wrap="square" rtlCol="0" anchor="ctr"/>
          <a:lstStyle/>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Treatment is the dominant predictor (p &lt; 0.001)</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Age is a significant additive covariate (p = 0.040)</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No treatment × age interaction detected</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Sex shows minimal marginal association — include optionally</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rs19486, rs26922, rs88128 show strongest marginal associations with AF (|r| ≤ 0.2</a:t>
            </a:r>
            <a:r>
              <a:rPr lang="en-US" altLang="zh-CN" sz="1050" dirty="0">
                <a:solidFill>
                  <a:srgbClr val="C8D8E8"/>
                </a:solidFill>
                <a:latin typeface="Calibri" pitchFamily="34" charset="0"/>
                <a:ea typeface="Calibri" pitchFamily="34" charset="-122"/>
                <a:cs typeface="Calibri" pitchFamily="34" charset="-120"/>
              </a:rPr>
              <a:t>5</a:t>
            </a:r>
            <a:r>
              <a:rPr lang="en-US" sz="1050" dirty="0">
                <a:solidFill>
                  <a:srgbClr val="C8D8E8"/>
                </a:solidFill>
                <a:latin typeface="Calibri" pitchFamily="34" charset="0"/>
                <a:ea typeface="Calibri" pitchFamily="34" charset="-122"/>
                <a:cs typeface="Calibri" pitchFamily="34" charset="-120"/>
              </a:rPr>
              <a:t>)</a:t>
            </a:r>
            <a:endParaRPr lang="en-US" sz="1050" dirty="0"/>
          </a:p>
        </p:txBody>
      </p:sp>
      <p:sp>
        <p:nvSpPr>
          <p:cNvPr id="9" name="Shape 7"/>
          <p:cNvSpPr/>
          <p:nvPr/>
        </p:nvSpPr>
        <p:spPr>
          <a:xfrm>
            <a:off x="3383280" y="868680"/>
            <a:ext cx="2743200" cy="292608"/>
          </a:xfrm>
          <a:prstGeom prst="rect">
            <a:avLst/>
          </a:prstGeom>
          <a:solidFill>
            <a:srgbClr val="E8A838"/>
          </a:solidFill>
          <a:ln w="12700">
            <a:solidFill>
              <a:srgbClr val="E8A838"/>
            </a:solidFill>
            <a:prstDash val="solid"/>
          </a:ln>
        </p:spPr>
        <p:txBody>
          <a:bodyPr/>
          <a:lstStyle/>
          <a:p>
            <a:endParaRPr lang="en-US"/>
          </a:p>
        </p:txBody>
      </p:sp>
      <p:sp>
        <p:nvSpPr>
          <p:cNvPr id="10" name="Text 8"/>
          <p:cNvSpPr/>
          <p:nvPr/>
        </p:nvSpPr>
        <p:spPr>
          <a:xfrm>
            <a:off x="3383280" y="868680"/>
            <a:ext cx="2743200" cy="292608"/>
          </a:xfrm>
          <a:prstGeom prst="rect">
            <a:avLst/>
          </a:prstGeom>
          <a:noFill/>
          <a:ln/>
        </p:spPr>
        <p:txBody>
          <a:bodyPr wrap="square" lIns="0" tIns="0" rIns="0" bIns="0" rtlCol="0" anchor="ctr"/>
          <a:lstStyle/>
          <a:p>
            <a:pPr marL="0" indent="0" algn="ctr">
              <a:buNone/>
            </a:pPr>
            <a:r>
              <a:rPr lang="en-US" sz="1100" b="1" dirty="0">
                <a:solidFill>
                  <a:srgbClr val="1B2B4B"/>
                </a:solidFill>
              </a:rPr>
              <a:t>PR Model</a:t>
            </a:r>
            <a:endParaRPr lang="en-US" sz="1100" dirty="0"/>
          </a:p>
        </p:txBody>
      </p:sp>
      <p:sp>
        <p:nvSpPr>
          <p:cNvPr id="11" name="Text 9"/>
          <p:cNvSpPr/>
          <p:nvPr/>
        </p:nvSpPr>
        <p:spPr>
          <a:xfrm>
            <a:off x="3421711" y="1272705"/>
            <a:ext cx="2697480" cy="2710898"/>
          </a:xfrm>
          <a:prstGeom prst="rect">
            <a:avLst/>
          </a:prstGeom>
          <a:noFill/>
          <a:ln/>
        </p:spPr>
        <p:txBody>
          <a:bodyPr wrap="square" rtlCol="0" anchor="ctr"/>
          <a:lstStyle/>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Treatment B: highest PR (66%), C: lowest (39%)</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Age strongly associated with PR (older → higher rate)</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Sex has no meaningful association with PR</a:t>
            </a:r>
            <a:endParaRPr lang="en-US" sz="1050" dirty="0"/>
          </a:p>
          <a:p>
            <a:pPr marL="342900" indent="-342900">
              <a:spcAft>
                <a:spcPts val="300"/>
              </a:spcAft>
              <a:buSzPct val="100000"/>
              <a:buFontTx/>
              <a:buChar char="•"/>
            </a:pPr>
            <a:r>
              <a:rPr lang="en-US" sz="1050" dirty="0">
                <a:solidFill>
                  <a:srgbClr val="C8D8E8"/>
                </a:solidFill>
                <a:latin typeface="Calibri" pitchFamily="34" charset="0"/>
                <a:ea typeface="Calibri" pitchFamily="34" charset="-122"/>
                <a:cs typeface="Calibri" pitchFamily="34" charset="-120"/>
              </a:rPr>
              <a:t>rs91154, rs56579 may be worth investigating</a:t>
            </a:r>
            <a:r>
              <a:rPr lang="zh-CN" altLang="en-US" sz="1050" dirty="0">
                <a:solidFill>
                  <a:srgbClr val="C8D8E8"/>
                </a:solidFill>
                <a:latin typeface="Calibri" pitchFamily="34" charset="0"/>
                <a:ea typeface="Calibri" pitchFamily="34" charset="-122"/>
                <a:cs typeface="Calibri" pitchFamily="34" charset="-120"/>
              </a:rPr>
              <a:t> </a:t>
            </a:r>
            <a:r>
              <a:rPr lang="en-US" altLang="zh-CN" sz="1050" dirty="0">
                <a:solidFill>
                  <a:srgbClr val="C8D8E8"/>
                </a:solidFill>
                <a:latin typeface="Calibri" pitchFamily="34" charset="0"/>
                <a:ea typeface="Calibri" pitchFamily="34" charset="-122"/>
                <a:cs typeface="Calibri" pitchFamily="34" charset="-120"/>
              </a:rPr>
              <a:t>since</a:t>
            </a:r>
            <a:r>
              <a:rPr lang="zh-CN" altLang="en-US" sz="1050" dirty="0">
                <a:solidFill>
                  <a:srgbClr val="C8D8E8"/>
                </a:solidFill>
                <a:latin typeface="Calibri" pitchFamily="34" charset="0"/>
                <a:ea typeface="Calibri" pitchFamily="34" charset="-122"/>
                <a:cs typeface="Calibri" pitchFamily="34" charset="-120"/>
              </a:rPr>
              <a:t> </a:t>
            </a:r>
            <a:r>
              <a:rPr lang="en-AU" altLang="zh-CN" sz="1050" dirty="0">
                <a:solidFill>
                  <a:srgbClr val="C8D8E8"/>
                </a:solidFill>
                <a:latin typeface="Calibri" pitchFamily="34" charset="0"/>
                <a:ea typeface="Calibri" pitchFamily="34" charset="-122"/>
                <a:cs typeface="Calibri" pitchFamily="34" charset="-120"/>
              </a:rPr>
              <a:t>rs91154 shows strongest negative dosage-response</a:t>
            </a:r>
            <a:r>
              <a:rPr lang="zh-CN" altLang="en-US" sz="1050" dirty="0">
                <a:solidFill>
                  <a:srgbClr val="C8D8E8"/>
                </a:solidFill>
                <a:latin typeface="Calibri" pitchFamily="34" charset="0"/>
                <a:ea typeface="Calibri" pitchFamily="34" charset="-122"/>
                <a:cs typeface="Calibri" pitchFamily="34" charset="-120"/>
              </a:rPr>
              <a:t> </a:t>
            </a:r>
            <a:r>
              <a:rPr lang="en-US" altLang="zh-CN" sz="1050" dirty="0">
                <a:solidFill>
                  <a:srgbClr val="C8D8E8"/>
                </a:solidFill>
                <a:latin typeface="Calibri" pitchFamily="34" charset="0"/>
                <a:ea typeface="Calibri" pitchFamily="34" charset="-122"/>
                <a:cs typeface="Calibri" pitchFamily="34" charset="-120"/>
              </a:rPr>
              <a:t>while</a:t>
            </a:r>
            <a:r>
              <a:rPr lang="en-AU" altLang="zh-CN" sz="1050" dirty="0">
                <a:solidFill>
                  <a:srgbClr val="C8D8E8"/>
                </a:solidFill>
                <a:latin typeface="Calibri" pitchFamily="34" charset="0"/>
                <a:ea typeface="Calibri" pitchFamily="34" charset="-122"/>
                <a:cs typeface="Calibri" pitchFamily="34" charset="-120"/>
              </a:rPr>
              <a:t> rs56579 shows sharp increase at dosage 2</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High AF does not guarantee PR — treatment C shows high AF but lowest PR rate (38.5%)</a:t>
            </a:r>
            <a:endParaRPr lang="en-US" sz="1050" dirty="0"/>
          </a:p>
        </p:txBody>
      </p:sp>
      <p:sp>
        <p:nvSpPr>
          <p:cNvPr id="12" name="Shape 10"/>
          <p:cNvSpPr/>
          <p:nvPr/>
        </p:nvSpPr>
        <p:spPr>
          <a:xfrm>
            <a:off x="6263640" y="868680"/>
            <a:ext cx="2743200" cy="292608"/>
          </a:xfrm>
          <a:prstGeom prst="rect">
            <a:avLst/>
          </a:prstGeom>
          <a:solidFill>
            <a:schemeClr val="accent5">
              <a:lumMod val="75000"/>
            </a:schemeClr>
          </a:solidFill>
          <a:ln w="12700">
            <a:solidFill>
              <a:schemeClr val="accent1"/>
            </a:solidFill>
            <a:prstDash val="solid"/>
          </a:ln>
        </p:spPr>
        <p:txBody>
          <a:bodyPr/>
          <a:lstStyle/>
          <a:p>
            <a:endParaRPr lang="en-US"/>
          </a:p>
        </p:txBody>
      </p:sp>
      <p:sp>
        <p:nvSpPr>
          <p:cNvPr id="13" name="Text 11"/>
          <p:cNvSpPr/>
          <p:nvPr/>
        </p:nvSpPr>
        <p:spPr>
          <a:xfrm>
            <a:off x="6263640" y="868680"/>
            <a:ext cx="2743200" cy="292608"/>
          </a:xfrm>
          <a:prstGeom prst="rect">
            <a:avLst/>
          </a:prstGeom>
          <a:noFill/>
          <a:ln/>
        </p:spPr>
        <p:txBody>
          <a:bodyPr wrap="square" lIns="0" tIns="0" rIns="0" bIns="0" rtlCol="0" anchor="ctr"/>
          <a:lstStyle/>
          <a:p>
            <a:pPr marL="0" indent="0" algn="ctr">
              <a:buNone/>
            </a:pPr>
            <a:r>
              <a:rPr lang="en-US" sz="1100" b="1" dirty="0">
                <a:solidFill>
                  <a:srgbClr val="FFFFFF"/>
                </a:solidFill>
              </a:rPr>
              <a:t>Caveats</a:t>
            </a:r>
            <a:endParaRPr lang="en-US" sz="1100" dirty="0"/>
          </a:p>
        </p:txBody>
      </p:sp>
      <p:sp>
        <p:nvSpPr>
          <p:cNvPr id="14" name="Text 12"/>
          <p:cNvSpPr/>
          <p:nvPr/>
        </p:nvSpPr>
        <p:spPr>
          <a:xfrm>
            <a:off x="6309359" y="1298448"/>
            <a:ext cx="2697480" cy="1651486"/>
          </a:xfrm>
          <a:prstGeom prst="rect">
            <a:avLst/>
          </a:prstGeom>
          <a:noFill/>
          <a:ln/>
        </p:spPr>
        <p:txBody>
          <a:bodyPr wrap="square" rtlCol="0" anchor="ctr"/>
          <a:lstStyle/>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n = 100 — limited power for SNP × treatment interactions</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smoker &amp; rs123456 excluded (zero variance)</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All covariates should be confirmed in formal modelling</a:t>
            </a:r>
            <a:endParaRPr lang="en-US" sz="1050" dirty="0"/>
          </a:p>
          <a:p>
            <a:pPr marL="342900" indent="-342900">
              <a:spcAft>
                <a:spcPts val="300"/>
              </a:spcAft>
              <a:buSzPct val="100000"/>
              <a:buChar char="•"/>
            </a:pPr>
            <a:r>
              <a:rPr lang="en-US" sz="1050" dirty="0">
                <a:solidFill>
                  <a:srgbClr val="C8D8E8"/>
                </a:solidFill>
                <a:latin typeface="Calibri" pitchFamily="34" charset="0"/>
                <a:ea typeface="Calibri" pitchFamily="34" charset="-122"/>
                <a:cs typeface="Calibri" pitchFamily="34" charset="-120"/>
              </a:rPr>
              <a:t>Results are exploratory — interpret with caution</a:t>
            </a:r>
            <a:endParaRPr lang="en-US" sz="1050" dirty="0"/>
          </a:p>
        </p:txBody>
      </p:sp>
      <p:sp>
        <p:nvSpPr>
          <p:cNvPr id="15" name="Shape 8">
            <a:extLst>
              <a:ext uri="{FF2B5EF4-FFF2-40B4-BE49-F238E27FC236}">
                <a16:creationId xmlns:a16="http://schemas.microsoft.com/office/drawing/2014/main" id="{99ADF22F-8C26-C5CC-C75D-026A6FB5BCF1}"/>
              </a:ext>
            </a:extLst>
          </p:cNvPr>
          <p:cNvSpPr/>
          <p:nvPr/>
        </p:nvSpPr>
        <p:spPr>
          <a:xfrm>
            <a:off x="3313704" y="868679"/>
            <a:ext cx="0" cy="4046185"/>
          </a:xfrm>
          <a:prstGeom prst="line">
            <a:avLst/>
          </a:prstGeom>
          <a:noFill/>
          <a:ln w="12700">
            <a:solidFill>
              <a:srgbClr val="DDE3EA"/>
            </a:solidFill>
            <a:prstDash val="dash"/>
          </a:ln>
        </p:spPr>
        <p:txBody>
          <a:bodyPr/>
          <a:lstStyle/>
          <a:p>
            <a:endParaRPr lang="en-US" dirty="0"/>
          </a:p>
        </p:txBody>
      </p:sp>
      <p:sp>
        <p:nvSpPr>
          <p:cNvPr id="16" name="Shape 8">
            <a:extLst>
              <a:ext uri="{FF2B5EF4-FFF2-40B4-BE49-F238E27FC236}">
                <a16:creationId xmlns:a16="http://schemas.microsoft.com/office/drawing/2014/main" id="{A9BD81D7-F710-860D-DF1A-6EBE573F970B}"/>
              </a:ext>
            </a:extLst>
          </p:cNvPr>
          <p:cNvSpPr/>
          <p:nvPr/>
        </p:nvSpPr>
        <p:spPr>
          <a:xfrm>
            <a:off x="6201353" y="868679"/>
            <a:ext cx="0" cy="4046185"/>
          </a:xfrm>
          <a:prstGeom prst="line">
            <a:avLst/>
          </a:prstGeom>
          <a:noFill/>
          <a:ln w="12700">
            <a:solidFill>
              <a:srgbClr val="DDE3EA"/>
            </a:solidFill>
            <a:prstDash val="dash"/>
          </a:ln>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1562</TotalTime>
  <Words>3997</Words>
  <Application>Microsoft Macintosh PowerPoint</Application>
  <PresentationFormat>On-screen Show (16:9)</PresentationFormat>
  <Paragraphs>268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FITFR Study — Summary Statistics &amp; Key Relationships</dc:title>
  <dc:subject>PptxGenJS Presentation</dc:subject>
  <dc:creator>PptxGenJS</dc:creator>
  <cp:lastModifiedBy>Kailin Xue</cp:lastModifiedBy>
  <cp:revision>77</cp:revision>
  <dcterms:created xsi:type="dcterms:W3CDTF">2026-03-15T05:10:29Z</dcterms:created>
  <dcterms:modified xsi:type="dcterms:W3CDTF">2026-03-18T02:11:23Z</dcterms:modified>
</cp:coreProperties>
</file>